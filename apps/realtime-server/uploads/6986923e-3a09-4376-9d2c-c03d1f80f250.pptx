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8229600" cx="14630400"/>
  <p:notesSz cx="8229600" cy="14630400"/>
  <p:embeddedFontLst>
    <p:embeddedFont>
      <p:font typeface="Tomorrow"/>
      <p:regular r:id="rId13"/>
      <p:bold r:id="rId14"/>
      <p:italic r:id="rId15"/>
      <p:boldItalic r:id="rId16"/>
    </p:embeddedFont>
    <p:embeddedFont>
      <p:font typeface="Tomorrow SemiBol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1koz2ew8JDllUcCobxAtyz3uy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TomorrowSemiBold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font" Target="fonts/Tomorrow-regular.fnt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Tomorrow-italic.fntdata"/><Relationship Id="rId14" Type="http://schemas.openxmlformats.org/officeDocument/2006/relationships/font" Target="fonts/Tomorrow-bold.fntdata"/><Relationship Id="rId17" Type="http://schemas.openxmlformats.org/officeDocument/2006/relationships/font" Target="fonts/TomorrowSemiBold-regular.fntdata"/><Relationship Id="rId16" Type="http://schemas.openxmlformats.org/officeDocument/2006/relationships/font" Target="fonts/Tomorrow-boldItalic.fntdata"/><Relationship Id="rId5" Type="http://schemas.openxmlformats.org/officeDocument/2006/relationships/slide" Target="slides/slide1.xml"/><Relationship Id="rId19" Type="http://schemas.openxmlformats.org/officeDocument/2006/relationships/font" Target="fonts/TomorrowSemiBold-italic.fntdata"/><Relationship Id="rId6" Type="http://schemas.openxmlformats.org/officeDocument/2006/relationships/slide" Target="slides/slide2.xml"/><Relationship Id="rId18" Type="http://schemas.openxmlformats.org/officeDocument/2006/relationships/font" Target="fonts/Tomorrow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1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"/>
          <p:cNvSpPr/>
          <p:nvPr/>
        </p:nvSpPr>
        <p:spPr>
          <a:xfrm>
            <a:off x="6280190" y="2019657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Внедрение системы мониторинга персонала за барной стойкой</a:t>
            </a:r>
            <a:endParaRPr b="0" i="0" sz="4450" u="none" cap="none" strike="noStrike"/>
          </a:p>
        </p:txBody>
      </p:sp>
      <p:sp>
        <p:nvSpPr>
          <p:cNvPr id="50" name="Google Shape;50;p1"/>
          <p:cNvSpPr/>
          <p:nvPr/>
        </p:nvSpPr>
        <p:spPr>
          <a:xfrm>
            <a:off x="6620351" y="4826318"/>
            <a:ext cx="5844540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650"/>
              <a:buFont typeface="Tomorrow SemiBold"/>
              <a:buNone/>
            </a:pPr>
            <a:r>
              <a:rPr b="1" i="0" lang="en-US" sz="26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Сенченко Максим Константинович</a:t>
            </a:r>
            <a:endParaRPr b="0" i="0" sz="2650" u="none" cap="none" strike="noStrike"/>
          </a:p>
        </p:txBody>
      </p:sp>
      <p:sp>
        <p:nvSpPr>
          <p:cNvPr id="51" name="Google Shape;51;p1"/>
          <p:cNvSpPr/>
          <p:nvPr/>
        </p:nvSpPr>
        <p:spPr>
          <a:xfrm>
            <a:off x="6620351" y="5786095"/>
            <a:ext cx="7216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ББИ‑237</a:t>
            </a:r>
            <a:endParaRPr b="0" i="0" sz="1750" u="none" cap="none" strike="noStrike"/>
          </a:p>
        </p:txBody>
      </p:sp>
      <p:sp>
        <p:nvSpPr>
          <p:cNvPr id="52" name="Google Shape;52;p1"/>
          <p:cNvSpPr/>
          <p:nvPr/>
        </p:nvSpPr>
        <p:spPr>
          <a:xfrm>
            <a:off x="6280190" y="4486156"/>
            <a:ext cx="30480" cy="1723668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" name="Google Shape;53;p1" title="Снимок экрана 2025-10-13 в 03.58.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9675" y="7379499"/>
            <a:ext cx="1990725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/>
          <p:nvPr/>
        </p:nvSpPr>
        <p:spPr>
          <a:xfrm>
            <a:off x="1272898" y="448200"/>
            <a:ext cx="103251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600"/>
              <a:buFont typeface="Tomorrow SemiBold"/>
              <a:buNone/>
            </a:pPr>
            <a:r>
              <a:rPr b="1" i="0" lang="en-US" sz="33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Проблема и стратегическая цель проекта</a:t>
            </a:r>
            <a:endParaRPr b="0" i="0" sz="3300" u="none" cap="none" strike="noStrike"/>
          </a:p>
        </p:txBody>
      </p:sp>
      <p:pic>
        <p:nvPicPr>
          <p:cNvPr descr="preencoded.png" id="60" name="Google Shape;6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97525" y="1255050"/>
            <a:ext cx="5764200" cy="69744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61" name="Google Shape;61;p2"/>
          <p:cNvSpPr txBox="1"/>
          <p:nvPr/>
        </p:nvSpPr>
        <p:spPr>
          <a:xfrm>
            <a:off x="728375" y="2207550"/>
            <a:ext cx="6400800" cy="36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Lato"/>
              <a:buChar char="●"/>
            </a:pPr>
            <a:r>
              <a:rPr lang="en-US" sz="2800">
                <a:solidFill>
                  <a:schemeClr val="lt1"/>
                </a:solidFill>
              </a:rPr>
              <a:t>Проблема: ручные проверки, разрозненные отчеты, пост‑фактум разборы → потери и задержки</a:t>
            </a:r>
            <a:endParaRPr sz="2800">
              <a:solidFill>
                <a:schemeClr val="lt1"/>
              </a:solidFill>
            </a:endParaRPr>
          </a:p>
          <a:p>
            <a:pPr indent="-317500" lvl="0" marL="342900" rtl="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●"/>
            </a:pPr>
            <a:r>
              <a:rPr lang="en-US" sz="2800">
                <a:solidFill>
                  <a:schemeClr val="lt1"/>
                </a:solidFill>
              </a:rPr>
              <a:t>Цель до 31.03.2026: сквозной учёт событий POS↔видео и быстрый разбор инцидентов</a:t>
            </a:r>
            <a:endParaRPr sz="1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793790" y="2700099"/>
            <a:ext cx="7556421" cy="2126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Концепция Решения: Визуальный Контроль и Интеграция Данных</a:t>
            </a:r>
            <a:endParaRPr b="0" i="0" sz="4450" u="none" cap="none" strike="noStrike"/>
          </a:p>
        </p:txBody>
      </p:sp>
      <p:sp>
        <p:nvSpPr>
          <p:cNvPr id="69" name="Google Shape;69;p3"/>
          <p:cNvSpPr/>
          <p:nvPr/>
        </p:nvSpPr>
        <p:spPr>
          <a:xfrm>
            <a:off x="793790" y="5166598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785100" y="617450"/>
            <a:ext cx="103425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3300"/>
              <a:buFont typeface="Tomorrow SemiBold"/>
              <a:buNone/>
            </a:pPr>
            <a:r>
              <a:rPr b="1" i="0" lang="en-US" sz="33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Ключевые показатели эффективности (KPI)</a:t>
            </a:r>
            <a:endParaRPr b="0" i="0" sz="3300" u="none" cap="none" strike="noStrike"/>
          </a:p>
        </p:txBody>
      </p:sp>
      <p:sp>
        <p:nvSpPr>
          <p:cNvPr id="76" name="Google Shape;76;p4"/>
          <p:cNvSpPr/>
          <p:nvPr/>
        </p:nvSpPr>
        <p:spPr>
          <a:xfrm>
            <a:off x="785098" y="1479709"/>
            <a:ext cx="13060204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"/>
              <a:buNone/>
            </a:pPr>
            <a:r>
              <a:t/>
            </a:r>
            <a:endParaRPr b="0" i="0" sz="1300" u="none" cap="none" strike="noStrike"/>
          </a:p>
        </p:txBody>
      </p:sp>
      <p:sp>
        <p:nvSpPr>
          <p:cNvPr id="77" name="Google Shape;77;p4"/>
          <p:cNvSpPr/>
          <p:nvPr/>
        </p:nvSpPr>
        <p:spPr>
          <a:xfrm>
            <a:off x="785098" y="1937980"/>
            <a:ext cx="13060204" cy="1384816"/>
          </a:xfrm>
          <a:prstGeom prst="roundRect">
            <a:avLst>
              <a:gd fmla="val 1822" name="adj"/>
            </a:avLst>
          </a:prstGeom>
          <a:solidFill>
            <a:srgbClr val="1D1D1B"/>
          </a:solidFill>
          <a:ln cap="flat" cmpd="sng" w="22850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807958" y="1960840"/>
            <a:ext cx="672941" cy="1339096"/>
          </a:xfrm>
          <a:prstGeom prst="rect">
            <a:avLst/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018223" y="2472690"/>
            <a:ext cx="252293" cy="315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50"/>
              <a:buFont typeface="Tomorrow SemiBold"/>
              <a:buNone/>
            </a:pPr>
            <a:r>
              <a:rPr b="1" i="0" lang="en-US" sz="19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</a:t>
            </a:r>
            <a:endParaRPr b="0" i="0" sz="1950" u="none" cap="none" strike="noStrike"/>
          </a:p>
        </p:txBody>
      </p:sp>
      <p:sp>
        <p:nvSpPr>
          <p:cNvPr id="80" name="Google Shape;80;p4"/>
          <p:cNvSpPr/>
          <p:nvPr/>
        </p:nvSpPr>
        <p:spPr>
          <a:xfrm>
            <a:off x="1649135" y="2129076"/>
            <a:ext cx="2103120" cy="262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Сокращение потерь</a:t>
            </a:r>
            <a:endParaRPr b="0" i="0" sz="1650" u="none" cap="none" strike="noStrike"/>
          </a:p>
        </p:txBody>
      </p:sp>
      <p:sp>
        <p:nvSpPr>
          <p:cNvPr id="81" name="Google Shape;81;p4"/>
          <p:cNvSpPr/>
          <p:nvPr/>
        </p:nvSpPr>
        <p:spPr>
          <a:xfrm>
            <a:off x="1649135" y="2492693"/>
            <a:ext cx="12173307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Доля необоснованных скидок/отмен: </a:t>
            </a:r>
            <a:r>
              <a:rPr b="1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≤ 1% чеков.</a:t>
            </a:r>
            <a:endParaRPr b="0" i="0" sz="1300" u="none" cap="none" strike="noStrike"/>
          </a:p>
        </p:txBody>
      </p:sp>
      <p:sp>
        <p:nvSpPr>
          <p:cNvPr id="82" name="Google Shape;82;p4"/>
          <p:cNvSpPr/>
          <p:nvPr/>
        </p:nvSpPr>
        <p:spPr>
          <a:xfrm>
            <a:off x="1649135" y="2862620"/>
            <a:ext cx="12173307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Снижение расхождения "теория-факт" (инвентаризация - списания): </a:t>
            </a:r>
            <a:r>
              <a:rPr b="1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на ≥ 98%</a:t>
            </a: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  <a:endParaRPr b="0" i="0" sz="1300" u="none" cap="none" strike="noStrike"/>
          </a:p>
        </p:txBody>
      </p:sp>
      <p:sp>
        <p:nvSpPr>
          <p:cNvPr id="83" name="Google Shape;83;p4"/>
          <p:cNvSpPr/>
          <p:nvPr/>
        </p:nvSpPr>
        <p:spPr>
          <a:xfrm>
            <a:off x="785098" y="3491032"/>
            <a:ext cx="13060204" cy="1384816"/>
          </a:xfrm>
          <a:prstGeom prst="roundRect">
            <a:avLst>
              <a:gd fmla="val 1822" name="adj"/>
            </a:avLst>
          </a:prstGeom>
          <a:solidFill>
            <a:srgbClr val="1D1D1B"/>
          </a:solidFill>
          <a:ln cap="flat" cmpd="sng" w="22850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807958" y="3513892"/>
            <a:ext cx="672941" cy="1339096"/>
          </a:xfrm>
          <a:prstGeom prst="rect">
            <a:avLst/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1018223" y="4025741"/>
            <a:ext cx="252293" cy="315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50"/>
              <a:buFont typeface="Tomorrow SemiBold"/>
              <a:buNone/>
            </a:pPr>
            <a:r>
              <a:rPr b="1" i="0" lang="en-US" sz="19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2</a:t>
            </a:r>
            <a:endParaRPr b="0" i="0" sz="1950" u="none" cap="none" strike="noStrike"/>
          </a:p>
        </p:txBody>
      </p:sp>
      <p:sp>
        <p:nvSpPr>
          <p:cNvPr id="86" name="Google Shape;86;p4"/>
          <p:cNvSpPr/>
          <p:nvPr/>
        </p:nvSpPr>
        <p:spPr>
          <a:xfrm>
            <a:off x="1649121" y="3682125"/>
            <a:ext cx="32634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Ускорение процессов</a:t>
            </a:r>
            <a:endParaRPr b="0" i="0" sz="1650" u="none" cap="none" strike="noStrike"/>
          </a:p>
        </p:txBody>
      </p:sp>
      <p:sp>
        <p:nvSpPr>
          <p:cNvPr id="87" name="Google Shape;87;p4"/>
          <p:cNvSpPr/>
          <p:nvPr/>
        </p:nvSpPr>
        <p:spPr>
          <a:xfrm>
            <a:off x="1649135" y="4045744"/>
            <a:ext cx="12173307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Время подготовки отчетов по работе бара: снижение </a:t>
            </a:r>
            <a:r>
              <a:rPr b="1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на ≥ 60%</a:t>
            </a: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  <a:endParaRPr b="0" i="0" sz="1300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1649135" y="4415671"/>
            <a:ext cx="12173307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Среднее время до обнаружения инцидента (MTTD): </a:t>
            </a:r>
            <a:r>
              <a:rPr b="1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≤ 12 часов</a:t>
            </a: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  <a:endParaRPr b="0" i="0" sz="1300" u="none" cap="none" strike="noStrike"/>
          </a:p>
        </p:txBody>
      </p:sp>
      <p:sp>
        <p:nvSpPr>
          <p:cNvPr id="89" name="Google Shape;89;p4"/>
          <p:cNvSpPr/>
          <p:nvPr/>
        </p:nvSpPr>
        <p:spPr>
          <a:xfrm>
            <a:off x="785098" y="5044083"/>
            <a:ext cx="13060204" cy="1384816"/>
          </a:xfrm>
          <a:prstGeom prst="roundRect">
            <a:avLst>
              <a:gd fmla="val 1822" name="adj"/>
            </a:avLst>
          </a:prstGeom>
          <a:solidFill>
            <a:srgbClr val="1D1D1B"/>
          </a:solidFill>
          <a:ln cap="flat" cmpd="sng" w="22850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807958" y="5066943"/>
            <a:ext cx="672941" cy="1339096"/>
          </a:xfrm>
          <a:prstGeom prst="rect">
            <a:avLst/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018223" y="5578792"/>
            <a:ext cx="252293" cy="315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50"/>
              <a:buFont typeface="Tomorrow SemiBold"/>
              <a:buNone/>
            </a:pPr>
            <a:r>
              <a:rPr b="1" i="0" lang="en-US" sz="19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3</a:t>
            </a:r>
            <a:endParaRPr b="0" i="0" sz="1950" u="none" cap="none" strike="noStrike"/>
          </a:p>
        </p:txBody>
      </p:sp>
      <p:sp>
        <p:nvSpPr>
          <p:cNvPr id="92" name="Google Shape;92;p4"/>
          <p:cNvSpPr/>
          <p:nvPr/>
        </p:nvSpPr>
        <p:spPr>
          <a:xfrm>
            <a:off x="1649122" y="5235175"/>
            <a:ext cx="41106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Управляемость и прозрачность</a:t>
            </a:r>
            <a:endParaRPr b="0" i="0" sz="1650" u="none" cap="none" strike="noStrike"/>
          </a:p>
        </p:txBody>
      </p:sp>
      <p:sp>
        <p:nvSpPr>
          <p:cNvPr id="93" name="Google Shape;93;p4"/>
          <p:cNvSpPr/>
          <p:nvPr/>
        </p:nvSpPr>
        <p:spPr>
          <a:xfrm>
            <a:off x="1649135" y="5598795"/>
            <a:ext cx="12173307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Процент операций с зафиксированной причиной и ответственным: </a:t>
            </a:r>
            <a:r>
              <a:rPr b="1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100%</a:t>
            </a: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  <a:endParaRPr b="0" i="0" sz="1300" u="none" cap="none" strike="noStrike"/>
          </a:p>
        </p:txBody>
      </p:sp>
      <p:sp>
        <p:nvSpPr>
          <p:cNvPr id="94" name="Google Shape;94;p4"/>
          <p:cNvSpPr/>
          <p:nvPr/>
        </p:nvSpPr>
        <p:spPr>
          <a:xfrm>
            <a:off x="1649135" y="5968722"/>
            <a:ext cx="12173307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Доступность аналитики (в рабочие часы): </a:t>
            </a:r>
            <a:r>
              <a:rPr b="1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≥ 99%</a:t>
            </a: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.</a:t>
            </a:r>
            <a:endParaRPr b="0" i="0" sz="1300" u="none" cap="none" strike="noStrike"/>
          </a:p>
        </p:txBody>
      </p:sp>
      <p:sp>
        <p:nvSpPr>
          <p:cNvPr id="95" name="Google Shape;95;p4"/>
          <p:cNvSpPr/>
          <p:nvPr/>
        </p:nvSpPr>
        <p:spPr>
          <a:xfrm>
            <a:off x="785098" y="6597134"/>
            <a:ext cx="13060204" cy="1014889"/>
          </a:xfrm>
          <a:prstGeom prst="roundRect">
            <a:avLst>
              <a:gd fmla="val 2487" name="adj"/>
            </a:avLst>
          </a:prstGeom>
          <a:solidFill>
            <a:srgbClr val="1D1D1B"/>
          </a:solidFill>
          <a:ln cap="flat" cmpd="sng" w="22850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807958" y="6619994"/>
            <a:ext cx="672941" cy="969169"/>
          </a:xfrm>
          <a:prstGeom prst="rect">
            <a:avLst/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1018223" y="6946821"/>
            <a:ext cx="252293" cy="315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950"/>
              <a:buFont typeface="Tomorrow SemiBold"/>
              <a:buNone/>
            </a:pPr>
            <a:r>
              <a:rPr b="1" i="0" lang="en-US" sz="19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4</a:t>
            </a:r>
            <a:endParaRPr b="0" i="0" sz="1950" u="none" cap="none" strike="noStrike"/>
          </a:p>
        </p:txBody>
      </p:sp>
      <p:sp>
        <p:nvSpPr>
          <p:cNvPr id="98" name="Google Shape;98;p4"/>
          <p:cNvSpPr/>
          <p:nvPr/>
        </p:nvSpPr>
        <p:spPr>
          <a:xfrm>
            <a:off x="1649120" y="6788225"/>
            <a:ext cx="34944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2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650"/>
              <a:buFont typeface="Tomorrow SemiBold"/>
              <a:buNone/>
            </a:pPr>
            <a:r>
              <a:rPr b="1" i="0" lang="en-US" sz="16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Соответствие нормам</a:t>
            </a:r>
            <a:endParaRPr b="0" i="0" sz="1650" u="none" cap="none" strike="noStrike"/>
          </a:p>
        </p:txBody>
      </p:sp>
      <p:sp>
        <p:nvSpPr>
          <p:cNvPr id="99" name="Google Shape;99;p4"/>
          <p:cNvSpPr/>
          <p:nvPr/>
        </p:nvSpPr>
        <p:spPr>
          <a:xfrm>
            <a:off x="1649135" y="7151846"/>
            <a:ext cx="12173307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1538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"/>
              <a:buNone/>
            </a:pP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Соблюдение законодательных требований: </a:t>
            </a:r>
            <a:r>
              <a:rPr b="1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0 несоответствий</a:t>
            </a:r>
            <a:r>
              <a:rPr b="0" i="0" lang="en-US" sz="13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по итогам юридической проверки.</a:t>
            </a:r>
            <a:endParaRPr b="0" i="0" sz="1300" u="none" cap="none" strike="noStrike"/>
          </a:p>
        </p:txBody>
      </p:sp>
      <p:pic>
        <p:nvPicPr>
          <p:cNvPr id="100" name="Google Shape;100;p4" title="Снимок экрана 2025-10-13 в 03.58.5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9675" y="7780250"/>
            <a:ext cx="1990725" cy="33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2674195" y="600775"/>
            <a:ext cx="9282000" cy="4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750"/>
              <a:buFont typeface="Tomorrow SemiBold"/>
              <a:buNone/>
            </a:pPr>
            <a:r>
              <a:rPr b="1" i="0" lang="en-US" sz="30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План-график реализации</a:t>
            </a:r>
            <a:r>
              <a:rPr b="1" lang="en-US" sz="30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</a:t>
            </a:r>
            <a:r>
              <a:rPr b="1" i="0" lang="en-US" sz="30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проекта</a:t>
            </a:r>
            <a:endParaRPr b="0" i="0" sz="3050" u="none" cap="none" strike="noStrike"/>
          </a:p>
        </p:txBody>
      </p:sp>
      <p:pic>
        <p:nvPicPr>
          <p:cNvPr descr="preencoded.png" id="107" name="Google Shape;107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7958" y="1231163"/>
            <a:ext cx="8515348" cy="623601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/>
          <p:nvPr/>
        </p:nvSpPr>
        <p:spPr>
          <a:xfrm>
            <a:off x="764858" y="7653576"/>
            <a:ext cx="13100685" cy="227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09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</a:pPr>
            <a:r>
              <a:t/>
            </a:r>
            <a:endParaRPr b="0" i="0" sz="1100" u="none" cap="none" strike="noStrike"/>
          </a:p>
        </p:txBody>
      </p:sp>
      <p:pic>
        <p:nvPicPr>
          <p:cNvPr id="109" name="Google Shape;109;p5" title="Снимок экрана 2025-10-13 в 03.58.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9675" y="7379499"/>
            <a:ext cx="1990725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/>
          <p:nvPr/>
        </p:nvSpPr>
        <p:spPr>
          <a:xfrm>
            <a:off x="552703" y="434225"/>
            <a:ext cx="7752000" cy="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600"/>
              <a:buFont typeface="Tomorrow SemiBold"/>
              <a:buNone/>
            </a:pPr>
            <a:r>
              <a:rPr b="1" i="0" lang="en-US" sz="26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Ограничения и Управление Рисками</a:t>
            </a:r>
            <a:endParaRPr b="0" i="0" sz="2600" u="none" cap="none" strike="noStrike"/>
          </a:p>
        </p:txBody>
      </p:sp>
      <p:sp>
        <p:nvSpPr>
          <p:cNvPr id="116" name="Google Shape;116;p6"/>
          <p:cNvSpPr/>
          <p:nvPr/>
        </p:nvSpPr>
        <p:spPr>
          <a:xfrm>
            <a:off x="552708" y="1189200"/>
            <a:ext cx="39729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1550"/>
              <a:buFont typeface="Tomorrow SemiBold"/>
              <a:buNone/>
            </a:pPr>
            <a:r>
              <a:rPr b="1" i="0" lang="en-US" sz="15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Ключевые Ограничения</a:t>
            </a:r>
            <a:endParaRPr b="0" i="0" sz="1550" u="none" cap="none" strike="noStrike"/>
          </a:p>
        </p:txBody>
      </p:sp>
      <p:sp>
        <p:nvSpPr>
          <p:cNvPr id="117" name="Google Shape;117;p6"/>
          <p:cNvSpPr/>
          <p:nvPr/>
        </p:nvSpPr>
        <p:spPr>
          <a:xfrm>
            <a:off x="552688" y="1591747"/>
            <a:ext cx="6598801" cy="1395889"/>
          </a:xfrm>
          <a:prstGeom prst="roundRect">
            <a:avLst>
              <a:gd fmla="val 1443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"/>
          <p:cNvSpPr/>
          <p:nvPr/>
        </p:nvSpPr>
        <p:spPr>
          <a:xfrm>
            <a:off x="552688" y="1591747"/>
            <a:ext cx="6598801" cy="697944"/>
          </a:xfrm>
          <a:prstGeom prst="roundRect">
            <a:avLst>
              <a:gd fmla="val 2885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6"/>
          <p:cNvSpPr/>
          <p:nvPr/>
        </p:nvSpPr>
        <p:spPr>
          <a:xfrm>
            <a:off x="686872" y="1725930"/>
            <a:ext cx="6330434" cy="42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"/>
              <a:buNone/>
            </a:pPr>
            <a:r>
              <a:rPr b="1" i="0" lang="en-US" sz="1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Зона контроля:</a:t>
            </a:r>
            <a:r>
              <a:rPr b="0" i="0" lang="en-US" sz="1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Система фокусируется исключительно на барной зоне. Нет контроля вне периметра.</a:t>
            </a:r>
            <a:endParaRPr b="0" i="0" sz="1050" u="none" cap="none" strike="noStrike"/>
          </a:p>
        </p:txBody>
      </p:sp>
      <p:sp>
        <p:nvSpPr>
          <p:cNvPr id="120" name="Google Shape;120;p6"/>
          <p:cNvSpPr/>
          <p:nvPr/>
        </p:nvSpPr>
        <p:spPr>
          <a:xfrm>
            <a:off x="552688" y="2289691"/>
            <a:ext cx="6598801" cy="697944"/>
          </a:xfrm>
          <a:prstGeom prst="rect">
            <a:avLst/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552688" y="2289691"/>
            <a:ext cx="6598801" cy="15240"/>
          </a:xfrm>
          <a:prstGeom prst="roundRect">
            <a:avLst>
              <a:gd fmla="val 132135" name="adj"/>
            </a:avLst>
          </a:prstGeom>
          <a:solidFill>
            <a:srgbClr val="55555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686872" y="2423874"/>
            <a:ext cx="6330434" cy="4295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"/>
              <a:buNone/>
            </a:pPr>
            <a:r>
              <a:rPr b="1" i="0" lang="en-US" sz="1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Функциональность:</a:t>
            </a:r>
            <a:r>
              <a:rPr b="0" i="0" lang="en-US" sz="1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Исключен аудио-контроль. Система не заменяет существующую POS-систему.</a:t>
            </a:r>
            <a:endParaRPr b="0" i="0" sz="1050" u="none" cap="none" strike="noStrike"/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8473" y="3356600"/>
            <a:ext cx="4693800" cy="4693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7486525" y="1189200"/>
            <a:ext cx="32448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1550"/>
              <a:buFont typeface="Tomorrow SemiBold"/>
              <a:buNone/>
            </a:pPr>
            <a:r>
              <a:rPr b="1" i="0" lang="en-US" sz="17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Управление Рисками</a:t>
            </a:r>
            <a:endParaRPr b="0" i="0" sz="1750" u="none" cap="none" strike="noStrike"/>
          </a:p>
        </p:txBody>
      </p:sp>
      <p:sp>
        <p:nvSpPr>
          <p:cNvPr id="125" name="Google Shape;125;p6"/>
          <p:cNvSpPr/>
          <p:nvPr/>
        </p:nvSpPr>
        <p:spPr>
          <a:xfrm>
            <a:off x="7516941" y="1664326"/>
            <a:ext cx="6598800" cy="1731900"/>
          </a:xfrm>
          <a:prstGeom prst="roundRect">
            <a:avLst>
              <a:gd fmla="val 6822" name="adj"/>
            </a:avLst>
          </a:prstGeom>
          <a:solidFill>
            <a:srgbClr val="1D1D1B"/>
          </a:solidFill>
          <a:ln cap="flat" cmpd="sng" w="15225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6" name="Google Shape;126;p6"/>
          <p:cNvSpPr/>
          <p:nvPr/>
        </p:nvSpPr>
        <p:spPr>
          <a:xfrm>
            <a:off x="7681673" y="1881859"/>
            <a:ext cx="329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 SemiBold"/>
              <a:buNone/>
            </a:pPr>
            <a:r>
              <a:rPr b="1" i="0" lang="en-US" sz="15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Качество видеопотока</a:t>
            </a:r>
            <a:endParaRPr b="0" i="0" sz="1500" u="none" cap="none" strike="noStrike"/>
          </a:p>
        </p:txBody>
      </p:sp>
      <p:sp>
        <p:nvSpPr>
          <p:cNvPr id="127" name="Google Shape;127;p6"/>
          <p:cNvSpPr/>
          <p:nvPr/>
        </p:nvSpPr>
        <p:spPr>
          <a:xfrm>
            <a:off x="7681672" y="2557881"/>
            <a:ext cx="62541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"/>
              <a:buNone/>
            </a:pP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Риск низкого разрешения/помех. </a:t>
            </a:r>
            <a:r>
              <a:rPr b="1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Меры:</a:t>
            </a: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Требования к оборудованию, регулярный технический аудит.</a:t>
            </a:r>
            <a:endParaRPr b="0" i="0" sz="1250" u="none" cap="none" strike="noStrike"/>
          </a:p>
        </p:txBody>
      </p:sp>
      <p:sp>
        <p:nvSpPr>
          <p:cNvPr id="128" name="Google Shape;128;p6"/>
          <p:cNvSpPr/>
          <p:nvPr/>
        </p:nvSpPr>
        <p:spPr>
          <a:xfrm>
            <a:off x="7516941" y="3612894"/>
            <a:ext cx="6598800" cy="1731900"/>
          </a:xfrm>
          <a:prstGeom prst="roundRect">
            <a:avLst>
              <a:gd fmla="val 6822" name="adj"/>
            </a:avLst>
          </a:prstGeom>
          <a:solidFill>
            <a:srgbClr val="1D1D1B"/>
          </a:solidFill>
          <a:ln cap="flat" cmpd="sng" w="15225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29" name="Google Shape;129;p6"/>
          <p:cNvSpPr/>
          <p:nvPr/>
        </p:nvSpPr>
        <p:spPr>
          <a:xfrm>
            <a:off x="7681672" y="3830419"/>
            <a:ext cx="247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 SemiBold"/>
              <a:buNone/>
            </a:pPr>
            <a:r>
              <a:rPr b="1" i="0" lang="en-US" sz="15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Производительность системы</a:t>
            </a:r>
            <a:endParaRPr b="0" i="0" sz="1500" u="none" cap="none" strike="noStrike"/>
          </a:p>
        </p:txBody>
      </p:sp>
      <p:sp>
        <p:nvSpPr>
          <p:cNvPr id="130" name="Google Shape;130;p6"/>
          <p:cNvSpPr/>
          <p:nvPr/>
        </p:nvSpPr>
        <p:spPr>
          <a:xfrm>
            <a:off x="7681672" y="4385780"/>
            <a:ext cx="62541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"/>
              <a:buNone/>
            </a:pP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Риск задержки обработки данных. </a:t>
            </a:r>
            <a:r>
              <a:rPr b="1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Меры:</a:t>
            </a: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Оптимизация алгоритмов, масштабируемая облачная инфраструктура (GPU).</a:t>
            </a:r>
            <a:endParaRPr b="0" i="0" sz="1250" u="none" cap="none" strike="noStrike"/>
          </a:p>
        </p:txBody>
      </p:sp>
      <p:sp>
        <p:nvSpPr>
          <p:cNvPr id="131" name="Google Shape;131;p6"/>
          <p:cNvSpPr/>
          <p:nvPr/>
        </p:nvSpPr>
        <p:spPr>
          <a:xfrm>
            <a:off x="7486528" y="5537652"/>
            <a:ext cx="6598800" cy="1731900"/>
          </a:xfrm>
          <a:prstGeom prst="roundRect">
            <a:avLst>
              <a:gd fmla="val 6822" name="adj"/>
            </a:avLst>
          </a:prstGeom>
          <a:solidFill>
            <a:srgbClr val="1D1D1B"/>
          </a:solidFill>
          <a:ln cap="flat" cmpd="sng" w="15225">
            <a:solidFill>
              <a:srgbClr val="5555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132" name="Google Shape;132;p6"/>
          <p:cNvSpPr/>
          <p:nvPr/>
        </p:nvSpPr>
        <p:spPr>
          <a:xfrm>
            <a:off x="7681672" y="5778989"/>
            <a:ext cx="16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300"/>
              <a:buFont typeface="Tomorrow SemiBold"/>
              <a:buNone/>
            </a:pPr>
            <a:r>
              <a:rPr b="1" i="0" lang="en-US" sz="15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Новые пути обхода</a:t>
            </a:r>
            <a:endParaRPr b="0" i="0" sz="1500" u="none" cap="none" strike="noStrike"/>
          </a:p>
        </p:txBody>
      </p:sp>
      <p:sp>
        <p:nvSpPr>
          <p:cNvPr id="133" name="Google Shape;133;p6"/>
          <p:cNvSpPr/>
          <p:nvPr/>
        </p:nvSpPr>
        <p:spPr>
          <a:xfrm>
            <a:off x="7681672" y="6334348"/>
            <a:ext cx="62541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050"/>
              <a:buFont typeface="Tomorrow"/>
              <a:buNone/>
            </a:pP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Риск разработки персоналом новых схем мошенничества. </a:t>
            </a:r>
            <a:r>
              <a:rPr b="1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Меры:</a:t>
            </a:r>
            <a:r>
              <a:rPr b="0" i="0" lang="en-US" sz="12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 Регулярный анализ данных, обучение системы новым паттернам.</a:t>
            </a:r>
            <a:endParaRPr b="0" i="0" sz="1250" u="none" cap="none" strike="noStrike"/>
          </a:p>
        </p:txBody>
      </p:sp>
      <p:pic>
        <p:nvPicPr>
          <p:cNvPr id="134" name="Google Shape;134;p6" title="Снимок экрана 2025-10-13 в 03.58.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9675" y="7379499"/>
            <a:ext cx="1990725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/>
          <p:nvPr/>
        </p:nvSpPr>
        <p:spPr>
          <a:xfrm>
            <a:off x="788677" y="619725"/>
            <a:ext cx="8126100" cy="5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3500"/>
              <a:buFont typeface="Tomorrow SemiBold"/>
              <a:buNone/>
            </a:pPr>
            <a:r>
              <a:rPr b="1" i="0" lang="en-US" sz="35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Ресурсы и Бюджетирование</a:t>
            </a:r>
            <a:endParaRPr b="0" i="0" sz="3500" u="none" cap="none" strike="noStrike"/>
          </a:p>
        </p:txBody>
      </p:sp>
      <p:sp>
        <p:nvSpPr>
          <p:cNvPr id="141" name="Google Shape;141;p7"/>
          <p:cNvSpPr/>
          <p:nvPr/>
        </p:nvSpPr>
        <p:spPr>
          <a:xfrm>
            <a:off x="788677" y="1633775"/>
            <a:ext cx="42933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Необходимые Ресурсы</a:t>
            </a:r>
            <a:endParaRPr b="0" i="0" sz="2100" u="none" cap="none" strike="noStrike"/>
          </a:p>
        </p:txBody>
      </p:sp>
      <p:sp>
        <p:nvSpPr>
          <p:cNvPr id="142" name="Google Shape;142;p7"/>
          <p:cNvSpPr/>
          <p:nvPr/>
        </p:nvSpPr>
        <p:spPr>
          <a:xfrm>
            <a:off x="788670" y="2174438"/>
            <a:ext cx="721162" cy="1399222"/>
          </a:xfrm>
          <a:prstGeom prst="roundRect">
            <a:avLst>
              <a:gd fmla="val 360006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014055" y="2704981"/>
            <a:ext cx="270391" cy="338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1</a:t>
            </a:r>
            <a:endParaRPr b="0" i="0" sz="2100" u="none" cap="none" strike="noStrike"/>
          </a:p>
        </p:txBody>
      </p:sp>
      <p:sp>
        <p:nvSpPr>
          <p:cNvPr id="144" name="Google Shape;144;p7"/>
          <p:cNvSpPr/>
          <p:nvPr/>
        </p:nvSpPr>
        <p:spPr>
          <a:xfrm>
            <a:off x="1690092" y="2354699"/>
            <a:ext cx="2253615" cy="281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750"/>
              <a:buFont typeface="Tomorrow SemiBold"/>
              <a:buNone/>
            </a:pPr>
            <a:r>
              <a:rPr b="1" i="0" lang="en-US" sz="17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Команда Проекта</a:t>
            </a:r>
            <a:endParaRPr b="0" i="0" sz="1750" u="none" cap="none" strike="noStrike"/>
          </a:p>
        </p:txBody>
      </p:sp>
      <p:sp>
        <p:nvSpPr>
          <p:cNvPr id="145" name="Google Shape;145;p7"/>
          <p:cNvSpPr/>
          <p:nvPr/>
        </p:nvSpPr>
        <p:spPr>
          <a:xfrm>
            <a:off x="1690092" y="2816662"/>
            <a:ext cx="6754416" cy="57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2 ключевых специалиста</a:t>
            </a:r>
            <a:endParaRPr b="0" i="0" sz="1400" u="none" cap="none" strike="noStrike"/>
          </a:p>
        </p:txBody>
      </p:sp>
      <p:sp>
        <p:nvSpPr>
          <p:cNvPr id="146" name="Google Shape;146;p7"/>
          <p:cNvSpPr/>
          <p:nvPr/>
        </p:nvSpPr>
        <p:spPr>
          <a:xfrm>
            <a:off x="788670" y="3753922"/>
            <a:ext cx="721162" cy="1687592"/>
          </a:xfrm>
          <a:prstGeom prst="roundRect">
            <a:avLst>
              <a:gd fmla="val 360006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1014055" y="4428649"/>
            <a:ext cx="270391" cy="338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2</a:t>
            </a:r>
            <a:endParaRPr b="0" i="0" sz="2100" u="none" cap="none" strike="noStrike"/>
          </a:p>
        </p:txBody>
      </p:sp>
      <p:sp>
        <p:nvSpPr>
          <p:cNvPr id="148" name="Google Shape;148;p7"/>
          <p:cNvSpPr/>
          <p:nvPr/>
        </p:nvSpPr>
        <p:spPr>
          <a:xfrm>
            <a:off x="1690105" y="3934175"/>
            <a:ext cx="45735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750"/>
              <a:buFont typeface="Tomorrow SemiBold"/>
              <a:buNone/>
            </a:pPr>
            <a:r>
              <a:rPr b="1" i="0" lang="en-US" sz="17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Единовременные Затраты</a:t>
            </a:r>
            <a:endParaRPr b="0" i="0" sz="1750" u="none" cap="none" strike="noStrike"/>
          </a:p>
        </p:txBody>
      </p:sp>
      <p:sp>
        <p:nvSpPr>
          <p:cNvPr id="149" name="Google Shape;149;p7"/>
          <p:cNvSpPr/>
          <p:nvPr/>
        </p:nvSpPr>
        <p:spPr>
          <a:xfrm>
            <a:off x="1690092" y="4396145"/>
            <a:ext cx="6754416" cy="865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Обучение модели (расходы на GPU), системы хранения данных, юридические консультации по защите данных, приобретение датасетов для обучения.</a:t>
            </a:r>
            <a:endParaRPr b="0" i="0" sz="1400" u="none" cap="none" strike="noStrike"/>
          </a:p>
        </p:txBody>
      </p:sp>
      <p:sp>
        <p:nvSpPr>
          <p:cNvPr id="150" name="Google Shape;150;p7"/>
          <p:cNvSpPr/>
          <p:nvPr/>
        </p:nvSpPr>
        <p:spPr>
          <a:xfrm>
            <a:off x="788670" y="5621774"/>
            <a:ext cx="721162" cy="1399222"/>
          </a:xfrm>
          <a:prstGeom prst="roundRect">
            <a:avLst>
              <a:gd fmla="val 360006" name="adj"/>
            </a:avLst>
          </a:prstGeom>
          <a:solidFill>
            <a:srgbClr val="3C3C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1014055" y="6152317"/>
            <a:ext cx="270391" cy="3380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100"/>
              <a:buFont typeface="Tomorrow SemiBold"/>
              <a:buNone/>
            </a:pPr>
            <a:r>
              <a:rPr b="1" i="0" lang="en-US" sz="21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3</a:t>
            </a:r>
            <a:endParaRPr b="0" i="0" sz="2100" u="none" cap="none" strike="noStrike"/>
          </a:p>
        </p:txBody>
      </p:sp>
      <p:sp>
        <p:nvSpPr>
          <p:cNvPr id="152" name="Google Shape;152;p7"/>
          <p:cNvSpPr/>
          <p:nvPr/>
        </p:nvSpPr>
        <p:spPr>
          <a:xfrm>
            <a:off x="1690103" y="5802025"/>
            <a:ext cx="38649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750"/>
              <a:buFont typeface="Tomorrow SemiBold"/>
              <a:buNone/>
            </a:pPr>
            <a:r>
              <a:rPr b="1" i="0" lang="en-US" sz="175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Периодические Затраты</a:t>
            </a:r>
            <a:endParaRPr b="0" i="0" sz="1750" u="none" cap="none" strike="noStrike"/>
          </a:p>
        </p:txBody>
      </p:sp>
      <p:sp>
        <p:nvSpPr>
          <p:cNvPr id="153" name="Google Shape;153;p7"/>
          <p:cNvSpPr/>
          <p:nvPr/>
        </p:nvSpPr>
        <p:spPr>
          <a:xfrm>
            <a:off x="1690092" y="6263997"/>
            <a:ext cx="6754416" cy="576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Лицензии на ПО, обновления GPU-мощностей, аудит безопасности и приватности, эксплуатационные расходы (электроэнергия).</a:t>
            </a:r>
            <a:endParaRPr b="0" i="0" sz="1400" u="none" cap="none" strike="noStrike"/>
          </a:p>
        </p:txBody>
      </p:sp>
      <p:pic>
        <p:nvPicPr>
          <p:cNvPr descr="preencoded.png" id="154" name="Google Shape;1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1945" y="1656278"/>
            <a:ext cx="3965734" cy="3965734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7"/>
          <p:cNvSpPr/>
          <p:nvPr/>
        </p:nvSpPr>
        <p:spPr>
          <a:xfrm>
            <a:off x="9162336" y="5824776"/>
            <a:ext cx="2253615" cy="2817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1750"/>
              <a:buFont typeface="Tomorrow SemiBold"/>
              <a:buNone/>
            </a:pPr>
            <a:r>
              <a:rPr b="1" i="0" lang="en-US" sz="17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Подход к Бюджету</a:t>
            </a:r>
            <a:endParaRPr b="0" i="0" sz="1750" u="none" cap="none" strike="noStrike"/>
          </a:p>
        </p:txBody>
      </p:sp>
      <p:sp>
        <p:nvSpPr>
          <p:cNvPr id="156" name="Google Shape;156;p7"/>
          <p:cNvSpPr/>
          <p:nvPr/>
        </p:nvSpPr>
        <p:spPr>
          <a:xfrm>
            <a:off x="9162336" y="6286738"/>
            <a:ext cx="4686895" cy="11534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400"/>
              <a:buFont typeface="Tomorrow"/>
              <a:buNone/>
            </a:pPr>
            <a:r>
              <a:rPr b="0" i="0" lang="en-US" sz="14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Используется стартап-подход: точная оценка бюджета будет уточнена после успешного завершения пилотного проекта. Допускается поиск внешнего спонсорства или грантов на инновации.</a:t>
            </a:r>
            <a:endParaRPr b="0" i="0" sz="1400" u="none" cap="none" strike="noStrike"/>
          </a:p>
        </p:txBody>
      </p:sp>
      <p:sp>
        <p:nvSpPr>
          <p:cNvPr id="157" name="Google Shape;157;p7"/>
          <p:cNvSpPr/>
          <p:nvPr/>
        </p:nvSpPr>
        <p:spPr>
          <a:xfrm>
            <a:off x="8891945" y="5824776"/>
            <a:ext cx="22860" cy="1615440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7" title="Снимок экрана 2025-10-13 в 03.58.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9675" y="7379499"/>
            <a:ext cx="1990725" cy="73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793790" y="716994"/>
            <a:ext cx="7556421" cy="1275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000"/>
              <a:buFont typeface="Tomorrow SemiBold"/>
              <a:buNone/>
            </a:pPr>
            <a:r>
              <a:rPr b="1" i="0" lang="en-US" sz="40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Заключение и Ожидаемый Эффект</a:t>
            </a:r>
            <a:endParaRPr b="0" i="0" sz="4000" u="none" cap="none" strike="noStrike"/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3790" y="2298978"/>
            <a:ext cx="510302" cy="51030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1559243" y="2388275"/>
            <a:ext cx="3062168" cy="3827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Сквозной Контроль</a:t>
            </a:r>
            <a:endParaRPr b="0" i="0" sz="2400" u="none" cap="none" strike="noStrike"/>
          </a:p>
        </p:txBody>
      </p:sp>
      <p:sp>
        <p:nvSpPr>
          <p:cNvPr id="168" name="Google Shape;168;p8"/>
          <p:cNvSpPr/>
          <p:nvPr/>
        </p:nvSpPr>
        <p:spPr>
          <a:xfrm>
            <a:off x="1559243" y="2893457"/>
            <a:ext cx="6790968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Решение обеспечивает полный цикл контроля: от фиксации событий на POS и видео до принятия обоснованных управленческих действий.</a:t>
            </a:r>
            <a:endParaRPr b="0" i="0" sz="1600" u="none" cap="none" strike="noStrike"/>
          </a:p>
        </p:txBody>
      </p:sp>
      <p:pic>
        <p:nvPicPr>
          <p:cNvPr descr="preencoded.png" id="169" name="Google Shape;16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3790" y="4133255"/>
            <a:ext cx="510302" cy="510302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8"/>
          <p:cNvSpPr/>
          <p:nvPr/>
        </p:nvSpPr>
        <p:spPr>
          <a:xfrm>
            <a:off x="1559243" y="4222552"/>
            <a:ext cx="30621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Снижение Потерь</a:t>
            </a:r>
            <a:endParaRPr b="0" i="0" sz="2400" u="none" cap="none" strike="noStrike"/>
          </a:p>
        </p:txBody>
      </p:sp>
      <p:sp>
        <p:nvSpPr>
          <p:cNvPr id="171" name="Google Shape;171;p8"/>
          <p:cNvSpPr/>
          <p:nvPr/>
        </p:nvSpPr>
        <p:spPr>
          <a:xfrm>
            <a:off x="1559243" y="4727734"/>
            <a:ext cx="6791100" cy="6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Минимизация необоснованных списаний, краж и ошибок персонала благодаря автоматической фиксации расхождений.</a:t>
            </a:r>
            <a:endParaRPr b="0" i="0" sz="1600" u="none" cap="none" strike="noStrike"/>
          </a:p>
        </p:txBody>
      </p:sp>
      <p:pic>
        <p:nvPicPr>
          <p:cNvPr descr="preencoded.png" id="172" name="Google Shape;17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3790" y="5938004"/>
            <a:ext cx="510302" cy="510302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/>
          <p:nvPr/>
        </p:nvSpPr>
        <p:spPr>
          <a:xfrm>
            <a:off x="1559254" y="6027300"/>
            <a:ext cx="5058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400"/>
              <a:buFont typeface="Tomorrow SemiBold"/>
              <a:buNone/>
            </a:pPr>
            <a:r>
              <a:rPr b="1" i="0" lang="en-US" sz="24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Ускорение Проверок</a:t>
            </a:r>
            <a:endParaRPr b="0" i="0" sz="2400" u="none" cap="none" strike="noStrike"/>
          </a:p>
        </p:txBody>
      </p:sp>
      <p:sp>
        <p:nvSpPr>
          <p:cNvPr id="174" name="Google Shape;174;p8"/>
          <p:cNvSpPr/>
          <p:nvPr/>
        </p:nvSpPr>
        <p:spPr>
          <a:xfrm>
            <a:off x="1559243" y="6532483"/>
            <a:ext cx="6790968" cy="98012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1600"/>
              <a:buFont typeface="Tomorrow"/>
              <a:buNone/>
            </a:pPr>
            <a:r>
              <a:rPr b="0" i="0" lang="en-US" sz="160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Автоматизированная аналитика и моментальное сопоставление данных сокращают время на разбор инцидентов и подготовку отчетов.</a:t>
            </a:r>
            <a:endParaRPr b="0" i="0" sz="1600" u="none" cap="none" strike="noStrik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2025-10-12T20:57:25Z</dcterms:created>
</cp:coreProperties>
</file>