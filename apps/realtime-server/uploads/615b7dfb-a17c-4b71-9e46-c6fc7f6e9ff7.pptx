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5YSz7BwVJvHM/ufUionuTxO4l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c3283506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3c3283506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3c3283506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837724" y="3058765"/>
            <a:ext cx="74685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Дворцовые перевороты XVIII века: причины и примеры</a:t>
            </a:r>
            <a:endParaRPr b="0" i="0" sz="44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837724" y="2642102"/>
            <a:ext cx="12954900" cy="14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Причины начала дворцовых переворотов:</a:t>
            </a:r>
            <a:endParaRPr b="0" i="0" sz="44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833912" y="4223042"/>
            <a:ext cx="61854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Указ Петра I отменил традицию передачи трона по прямой мужской линии. Монарх мог назначить наследника по своей воле.</a:t>
            </a:r>
            <a:endParaRPr b="0" i="0" sz="185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7610949" y="4223042"/>
            <a:ext cx="61854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После смерти Петра I возникла неопределенность и борьба за власть. Отсутствие четких правил создавало почву для интриг и переворотов.</a:t>
            </a:r>
            <a:endParaRPr b="0" i="0" sz="185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10918500" y="7247575"/>
            <a:ext cx="3704700" cy="924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6289250" y="1341201"/>
            <a:ext cx="75384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250"/>
              <a:buFont typeface="Arial"/>
              <a:buNone/>
            </a:pPr>
            <a:r>
              <a:rPr b="0" i="0" lang="en-US" sz="4250" u="none" cap="none" strike="noStrike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Роль гвардии и знати</a:t>
            </a:r>
            <a:endParaRPr b="0" i="0" sz="4250" u="none" cap="none" strike="noStrike"/>
          </a:p>
        </p:txBody>
      </p:sp>
      <p:sp>
        <p:nvSpPr>
          <p:cNvPr id="66" name="Google Shape;66;p3"/>
          <p:cNvSpPr/>
          <p:nvPr/>
        </p:nvSpPr>
        <p:spPr>
          <a:xfrm>
            <a:off x="6289250" y="2662201"/>
            <a:ext cx="516000" cy="650400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466295" y="2783251"/>
            <a:ext cx="162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550" u="none" cap="none" strike="noStrike"/>
          </a:p>
        </p:txBody>
      </p:sp>
      <p:sp>
        <p:nvSpPr>
          <p:cNvPr id="68" name="Google Shape;68;p3"/>
          <p:cNvSpPr/>
          <p:nvPr/>
        </p:nvSpPr>
        <p:spPr>
          <a:xfrm>
            <a:off x="7034699" y="2662201"/>
            <a:ext cx="2698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Возвышение гвардии</a:t>
            </a:r>
            <a:endParaRPr b="0" i="0" sz="2100" u="none" cap="none" strike="noStrike"/>
          </a:p>
        </p:txBody>
      </p:sp>
      <p:sp>
        <p:nvSpPr>
          <p:cNvPr id="69" name="Google Shape;69;p3"/>
          <p:cNvSpPr/>
          <p:nvPr/>
        </p:nvSpPr>
        <p:spPr>
          <a:xfrm>
            <a:off x="7034699" y="3260554"/>
            <a:ext cx="2909100" cy="13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Гвардия стала политической силой, опорой монархов и инструментом влияния.</a:t>
            </a:r>
            <a:endParaRPr b="0" i="0" sz="1800" u="none" cap="none" strike="noStrike"/>
          </a:p>
        </p:txBody>
      </p:sp>
      <p:sp>
        <p:nvSpPr>
          <p:cNvPr id="70" name="Google Shape;70;p3"/>
          <p:cNvSpPr/>
          <p:nvPr/>
        </p:nvSpPr>
        <p:spPr>
          <a:xfrm>
            <a:off x="10173057" y="2662201"/>
            <a:ext cx="516000" cy="650400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0350102" y="2783251"/>
            <a:ext cx="162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550" u="none" cap="none" strike="noStrike"/>
          </a:p>
        </p:txBody>
      </p:sp>
      <p:sp>
        <p:nvSpPr>
          <p:cNvPr id="72" name="Google Shape;72;p3"/>
          <p:cNvSpPr/>
          <p:nvPr/>
        </p:nvSpPr>
        <p:spPr>
          <a:xfrm>
            <a:off x="10918505" y="2662201"/>
            <a:ext cx="2761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Интересы дворянства</a:t>
            </a:r>
            <a:endParaRPr b="0" i="0" sz="2100" u="none" cap="none" strike="noStrike"/>
          </a:p>
        </p:txBody>
      </p:sp>
      <p:sp>
        <p:nvSpPr>
          <p:cNvPr id="73" name="Google Shape;73;p3"/>
          <p:cNvSpPr/>
          <p:nvPr/>
        </p:nvSpPr>
        <p:spPr>
          <a:xfrm>
            <a:off x="10918505" y="3260554"/>
            <a:ext cx="29091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Гвардия выражала интересы дворянских группировок. Знать боролась за влияние на монарха и должности.</a:t>
            </a:r>
            <a:endParaRPr b="0" i="0" sz="1800" u="none" cap="none" strike="noStrike"/>
          </a:p>
        </p:txBody>
      </p:sp>
      <p:sp>
        <p:nvSpPr>
          <p:cNvPr id="74" name="Google Shape;74;p3"/>
          <p:cNvSpPr/>
          <p:nvPr/>
        </p:nvSpPr>
        <p:spPr>
          <a:xfrm>
            <a:off x="6289250" y="5724318"/>
            <a:ext cx="516000" cy="650400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466295" y="5845368"/>
            <a:ext cx="162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550" u="none" cap="none" strike="noStrike"/>
          </a:p>
        </p:txBody>
      </p:sp>
      <p:sp>
        <p:nvSpPr>
          <p:cNvPr id="76" name="Google Shape;76;p3"/>
          <p:cNvSpPr/>
          <p:nvPr/>
        </p:nvSpPr>
        <p:spPr>
          <a:xfrm>
            <a:off x="7034699" y="5724318"/>
            <a:ext cx="2698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Решающий фактор</a:t>
            </a:r>
            <a:endParaRPr b="0" i="0" sz="210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7034699" y="6322671"/>
            <a:ext cx="6792900" cy="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Поддержка гвардией той или иной группировки была решающей для успеха переворота.</a:t>
            </a:r>
            <a:endParaRPr b="0" i="0" sz="180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10918500" y="7247575"/>
            <a:ext cx="3704700" cy="924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760214" y="852130"/>
            <a:ext cx="7623572" cy="127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Ключевые фигуры: Императоры и императрицы</a:t>
            </a:r>
            <a:endParaRPr b="0" i="0" sz="4000" u="none" cap="none" strike="noStrike"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214" y="2455664"/>
            <a:ext cx="527209" cy="52720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760214" y="3200043"/>
            <a:ext cx="2323981" cy="1042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Екатерина I: воцарение при поддержке Меншикова и гвардии.</a:t>
            </a:r>
            <a:endParaRPr b="0" i="0" sz="1700" u="none" cap="none" strike="noStrike"/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455664"/>
            <a:ext cx="527209" cy="52720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3409950" y="3200043"/>
            <a:ext cx="2323981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Анна Иоанновна: приглашена Верховным тайным советом, разорвала "Кондиции".</a:t>
            </a:r>
            <a:endParaRPr b="0" i="0" sz="1700" u="none" cap="none" strike="noStrike"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9686" y="2455664"/>
            <a:ext cx="527209" cy="52720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6059686" y="3200043"/>
            <a:ext cx="2324100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Елизавета Петровна: свергла Ивана VI в 1741, правление просвещенное.</a:t>
            </a:r>
            <a:endParaRPr b="0" i="0" sz="1700" u="none" cap="none" strike="noStrike"/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214" y="5242322"/>
            <a:ext cx="527209" cy="52720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760214" y="5986701"/>
            <a:ext cx="2323981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Екатерина II: свергла Петра III в 1762, эпоха "просвещенного абсолютизма".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" name="Google Shape;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091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785455" y="1511926"/>
            <a:ext cx="75732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150"/>
              <a:buFont typeface="Arial"/>
              <a:buNone/>
            </a:pPr>
            <a:r>
              <a:rPr b="0" i="0" lang="en-US" sz="4150" u="none" cap="none" strike="noStrike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Ключевые фигуры</a:t>
            </a:r>
            <a:endParaRPr b="0" i="0" sz="4150" u="none" cap="none" strike="noStrike"/>
          </a:p>
        </p:txBody>
      </p:sp>
      <p:sp>
        <p:nvSpPr>
          <p:cNvPr id="101" name="Google Shape;101;p5"/>
          <p:cNvSpPr/>
          <p:nvPr/>
        </p:nvSpPr>
        <p:spPr>
          <a:xfrm flipH="1">
            <a:off x="1136021" y="2883225"/>
            <a:ext cx="20100" cy="3653100"/>
          </a:xfrm>
          <a:prstGeom prst="roundRect">
            <a:avLst>
              <a:gd fmla="val 30924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344037" y="3372803"/>
            <a:ext cx="785400" cy="30600"/>
          </a:xfrm>
          <a:prstGeom prst="roundRect">
            <a:avLst>
              <a:gd fmla="val 30924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69573" y="3135630"/>
            <a:ext cx="504900" cy="504900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042809" y="3229689"/>
            <a:ext cx="1584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rPr b="0" i="0" lang="en-US" sz="24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50" u="none" cap="none" strike="noStrike"/>
          </a:p>
        </p:txBody>
      </p:sp>
      <p:sp>
        <p:nvSpPr>
          <p:cNvPr id="105" name="Google Shape;105;p5"/>
          <p:cNvSpPr/>
          <p:nvPr/>
        </p:nvSpPr>
        <p:spPr>
          <a:xfrm>
            <a:off x="2356247" y="3107531"/>
            <a:ext cx="6002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Меншиков: возвысился при Петре I, влиял на Екатерину I, свергнут.</a:t>
            </a:r>
            <a:endParaRPr b="0" i="0" sz="1750" u="none" cap="none" strike="noStrike"/>
          </a:p>
        </p:txBody>
      </p:sp>
      <p:sp>
        <p:nvSpPr>
          <p:cNvPr id="106" name="Google Shape;106;p5"/>
          <p:cNvSpPr/>
          <p:nvPr/>
        </p:nvSpPr>
        <p:spPr>
          <a:xfrm>
            <a:off x="1344037" y="4763929"/>
            <a:ext cx="785400" cy="30600"/>
          </a:xfrm>
          <a:prstGeom prst="roundRect">
            <a:avLst>
              <a:gd fmla="val 30924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69573" y="4526756"/>
            <a:ext cx="504900" cy="504900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042809" y="4620816"/>
            <a:ext cx="1584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rPr b="0" i="0" lang="en-US" sz="24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50" u="none" cap="none" strike="noStrike"/>
          </a:p>
        </p:txBody>
      </p:sp>
      <p:sp>
        <p:nvSpPr>
          <p:cNvPr id="109" name="Google Shape;109;p5"/>
          <p:cNvSpPr/>
          <p:nvPr/>
        </p:nvSpPr>
        <p:spPr>
          <a:xfrm>
            <a:off x="2356247" y="4498658"/>
            <a:ext cx="6002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Бирон: фаворит Анны Иоанновны, эпоха "бироновщины", свергнут.</a:t>
            </a:r>
            <a:endParaRPr b="0" i="0" sz="1750" u="none" cap="none" strike="noStrike"/>
          </a:p>
        </p:txBody>
      </p:sp>
      <p:sp>
        <p:nvSpPr>
          <p:cNvPr id="110" name="Google Shape;110;p5"/>
          <p:cNvSpPr/>
          <p:nvPr/>
        </p:nvSpPr>
        <p:spPr>
          <a:xfrm>
            <a:off x="1344037" y="6155055"/>
            <a:ext cx="785400" cy="30600"/>
          </a:xfrm>
          <a:prstGeom prst="roundRect">
            <a:avLst>
              <a:gd fmla="val 30924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69573" y="5917883"/>
            <a:ext cx="504900" cy="504900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042809" y="6011942"/>
            <a:ext cx="1584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rPr b="0" i="0" lang="en-US" sz="24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50" u="none" cap="none" strike="noStrike"/>
          </a:p>
        </p:txBody>
      </p:sp>
      <p:sp>
        <p:nvSpPr>
          <p:cNvPr id="113" name="Google Shape;113;p5"/>
          <p:cNvSpPr/>
          <p:nvPr/>
        </p:nvSpPr>
        <p:spPr>
          <a:xfrm>
            <a:off x="2356247" y="5889784"/>
            <a:ext cx="6002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Потёмкин: фаворит Екатерины II, имел огромную власть и влиял на политику.</a:t>
            </a:r>
            <a:endParaRPr b="0" i="0" sz="1750" u="none" cap="none" strike="noStrike"/>
          </a:p>
        </p:txBody>
      </p:sp>
      <p:sp>
        <p:nvSpPr>
          <p:cNvPr id="114" name="Google Shape;114;p5"/>
          <p:cNvSpPr/>
          <p:nvPr/>
        </p:nvSpPr>
        <p:spPr>
          <a:xfrm>
            <a:off x="1042809" y="7403068"/>
            <a:ext cx="1584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t/>
            </a:r>
            <a:endParaRPr b="0" i="0" sz="24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c3283506b_0_0"/>
          <p:cNvSpPr/>
          <p:nvPr/>
        </p:nvSpPr>
        <p:spPr>
          <a:xfrm>
            <a:off x="837724" y="1139071"/>
            <a:ext cx="74685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Примеры дворцовых переворотов: 1725 и 1741 годы</a:t>
            </a:r>
            <a:endParaRPr b="0" i="0" sz="4400" u="none" cap="none" strike="noStrike"/>
          </a:p>
        </p:txBody>
      </p:sp>
      <p:pic>
        <p:nvPicPr>
          <p:cNvPr descr="preencoded.png" id="121" name="Google Shape;121;g33c3283506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98" y="3635884"/>
            <a:ext cx="949900" cy="138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3c3283506b_0_0"/>
          <p:cNvSpPr/>
          <p:nvPr/>
        </p:nvSpPr>
        <p:spPr>
          <a:xfrm>
            <a:off x="2393513" y="3773210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i="0" lang="en-US" sz="2000" u="none" cap="none" strike="noStrike">
                <a:solidFill>
                  <a:srgbClr val="272525"/>
                </a:solidFill>
              </a:rPr>
              <a:t>1725 год: Екатерина I</a:t>
            </a:r>
            <a:endParaRPr i="0" sz="2000" u="none" cap="none" strike="noStrike"/>
          </a:p>
        </p:txBody>
      </p:sp>
      <p:sp>
        <p:nvSpPr>
          <p:cNvPr id="123" name="Google Shape;123;g33c3283506b_0_0"/>
          <p:cNvSpPr/>
          <p:nvPr/>
        </p:nvSpPr>
        <p:spPr>
          <a:xfrm>
            <a:off x="2393525" y="4116349"/>
            <a:ext cx="5912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i="0" lang="en-US" sz="2000" u="none" cap="none" strike="noStrike">
                <a:solidFill>
                  <a:srgbClr val="272525"/>
                </a:solidFill>
              </a:rPr>
              <a:t>Борьба между Меншиковым и знатью. </a:t>
            </a:r>
            <a:endParaRPr i="0" sz="2000" u="none" cap="none" strike="noStrike"/>
          </a:p>
        </p:txBody>
      </p:sp>
      <p:pic>
        <p:nvPicPr>
          <p:cNvPr descr="preencoded.png" id="124" name="Google Shape;124;g33c3283506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302" y="5017051"/>
            <a:ext cx="949908" cy="13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3c3283506b_0_0"/>
          <p:cNvSpPr/>
          <p:nvPr/>
        </p:nvSpPr>
        <p:spPr>
          <a:xfrm>
            <a:off x="2420675" y="5158700"/>
            <a:ext cx="43026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i="0" lang="en-US" sz="2000" u="none" cap="none" strike="noStrike">
                <a:solidFill>
                  <a:srgbClr val="272525"/>
                </a:solidFill>
              </a:rPr>
              <a:t>1741 год: Елизавета Петровна</a:t>
            </a:r>
            <a:endParaRPr i="0" sz="2000" u="none" cap="none" strike="noStrike"/>
          </a:p>
        </p:txBody>
      </p:sp>
      <p:sp>
        <p:nvSpPr>
          <p:cNvPr id="126" name="Google Shape;126;g33c3283506b_0_0"/>
          <p:cNvSpPr/>
          <p:nvPr/>
        </p:nvSpPr>
        <p:spPr>
          <a:xfrm>
            <a:off x="2393526" y="5551768"/>
            <a:ext cx="66351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i="0" lang="en-US" sz="2000" u="none" cap="none" strike="noStrike">
                <a:solidFill>
                  <a:srgbClr val="272525"/>
                </a:solidFill>
              </a:rPr>
              <a:t>Недовольство Анной Леопольдовной и Минихом</a:t>
            </a:r>
            <a:endParaRPr i="0" sz="2000" u="none" cap="none" strike="noStrike"/>
          </a:p>
        </p:txBody>
      </p:sp>
      <p:pic>
        <p:nvPicPr>
          <p:cNvPr descr="preencoded.png" id="127" name="Google Shape;127;g33c3283506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302" y="6398251"/>
            <a:ext cx="949908" cy="13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3c3283506b_0_0"/>
          <p:cNvSpPr/>
          <p:nvPr/>
        </p:nvSpPr>
        <p:spPr>
          <a:xfrm>
            <a:off x="905300" y="6687450"/>
            <a:ext cx="949800" cy="666300"/>
          </a:xfrm>
          <a:prstGeom prst="rect">
            <a:avLst/>
          </a:prstGeom>
          <a:solidFill>
            <a:srgbClr val="F4D4F7"/>
          </a:solidFill>
          <a:ln cap="flat" cmpd="sng" w="9525">
            <a:solidFill>
              <a:srgbClr val="F4D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</a:t>
            </a:r>
            <a:endParaRPr sz="2200"/>
          </a:p>
        </p:txBody>
      </p:sp>
      <p:sp>
        <p:nvSpPr>
          <p:cNvPr id="129" name="Google Shape;129;g33c3283506b_0_0"/>
          <p:cNvSpPr txBox="1"/>
          <p:nvPr/>
        </p:nvSpPr>
        <p:spPr>
          <a:xfrm>
            <a:off x="2393525" y="6461325"/>
            <a:ext cx="55239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1762 год: Екатерина II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/>
              <a:t>Недовольство Петром III.</a:t>
            </a:r>
            <a:endParaRPr sz="2000"/>
          </a:p>
        </p:txBody>
      </p:sp>
      <p:pic>
        <p:nvPicPr>
          <p:cNvPr id="130" name="Google Shape;130;g33c3283506b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81025" y="0"/>
            <a:ext cx="5396918" cy="8229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6289238" y="2611993"/>
            <a:ext cx="53976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250"/>
              <a:buFont typeface="Arial"/>
              <a:buNone/>
            </a:pPr>
            <a:r>
              <a:rPr b="0" i="0" lang="en-US" sz="4250" u="none" cap="none" strike="noStrike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b="0" i="0" sz="4250" u="none" cap="none" strike="noStrike"/>
          </a:p>
        </p:txBody>
      </p:sp>
      <p:sp>
        <p:nvSpPr>
          <p:cNvPr id="138" name="Google Shape;138;p8"/>
          <p:cNvSpPr/>
          <p:nvPr/>
        </p:nvSpPr>
        <p:spPr>
          <a:xfrm>
            <a:off x="6289250" y="3630702"/>
            <a:ext cx="7538400" cy="1710900"/>
          </a:xfrm>
          <a:prstGeom prst="roundRect">
            <a:avLst>
              <a:gd fmla="val 732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" name="Google Shape;139;p8"/>
          <p:cNvSpPr/>
          <p:nvPr/>
        </p:nvSpPr>
        <p:spPr>
          <a:xfrm>
            <a:off x="6526173" y="3867626"/>
            <a:ext cx="2746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/>
          </a:p>
        </p:txBody>
      </p:sp>
      <p:sp>
        <p:nvSpPr>
          <p:cNvPr id="140" name="Google Shape;140;p8"/>
          <p:cNvSpPr/>
          <p:nvPr/>
        </p:nvSpPr>
        <p:spPr>
          <a:xfrm>
            <a:off x="6526250" y="3791451"/>
            <a:ext cx="70644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Arial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Дворцовые перевороты – важная черта XVIII века</a:t>
            </a:r>
            <a:r>
              <a:rPr lang="en-US" sz="2200">
                <a:solidFill>
                  <a:srgbClr val="272525"/>
                </a:solidFill>
              </a:rPr>
              <a:t>. Они </a:t>
            </a:r>
            <a:r>
              <a:rPr lang="en-US" sz="2200">
                <a:solidFill>
                  <a:srgbClr val="272525"/>
                </a:solidFill>
              </a:rPr>
              <a:t>оказали</a:t>
            </a:r>
            <a:r>
              <a:rPr lang="en-US" sz="2200">
                <a:solidFill>
                  <a:srgbClr val="272525"/>
                </a:solidFill>
              </a:rPr>
              <a:t> огромное </a:t>
            </a:r>
            <a:r>
              <a:rPr lang="en-US" sz="2200">
                <a:solidFill>
                  <a:srgbClr val="272525"/>
                </a:solidFill>
              </a:rPr>
              <a:t>влияние на внутреннюю и внешнюю политику.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Arial"/>
              <a:buNone/>
            </a:pPr>
            <a:r>
              <a:t/>
            </a:r>
            <a:endParaRPr sz="2200">
              <a:solidFill>
                <a:srgbClr val="272525"/>
              </a:solidFill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0918500" y="7247575"/>
            <a:ext cx="3704700" cy="924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2025-03-04T07:32:05Z</dcterms:created>
  <dc:creator>PptxGenJS</dc:creator>
</cp:coreProperties>
</file>