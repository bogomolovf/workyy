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1" d="100"/>
          <a:sy n="91" d="100"/>
        </p:scale>
        <p:origin x="1182" y="9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ик. Узкая графика. Синий фон">
    <p:bg>
      <p:bgPr shadeToTitle="0">
        <a:solidFill>
          <a:srgbClr val="2355D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8950" y="508879"/>
            <a:ext cx="2642063" cy="5544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563100" y="0"/>
            <a:ext cx="2628900" cy="6858000"/>
          </a:xfrm>
          <a:prstGeom prst="rect">
            <a:avLst/>
          </a:prstGeom>
        </p:spPr>
      </p:pic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 bwMode="auto">
          <a:xfrm>
            <a:off x="488950" y="2828129"/>
            <a:ext cx="7920000" cy="1600438"/>
          </a:xfrm>
        </p:spPr>
        <p:txBody>
          <a:bodyPr wrap="square" lIns="0" tIns="0" rIns="0" bIns="0" anchor="ctr">
            <a:spAutoFit/>
          </a:bodyPr>
          <a:lstStyle>
            <a:lvl1pPr>
              <a:defRPr lang="ru-RU" sz="5200">
                <a:solidFill>
                  <a:srgbClr val="FFFFFF"/>
                </a:solidFill>
                <a:latin typeface="Cera CY"/>
                <a:ea typeface="+mn-ea"/>
                <a:cs typeface="Arial"/>
              </a:defRPr>
            </a:lvl1pPr>
          </a:lstStyle>
          <a:p>
            <a:pPr marL="0" marR="0" lvl="0" indent="0" defTabSz="91440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defRPr/>
            </a:pPr>
            <a:r>
              <a:rPr lang="ru-RU"/>
              <a:t>Общебанковский шаблон презентации</a:t>
            </a:r>
            <a:endParaRPr/>
          </a:p>
        </p:txBody>
      </p:sp>
      <p:sp>
        <p:nvSpPr>
          <p:cNvPr id="6" name="Текст 2"/>
          <p:cNvSpPr txBox="1"/>
          <p:nvPr/>
        </p:nvSpPr>
        <p:spPr bwMode="auto">
          <a:xfrm>
            <a:off x="488950" y="6212466"/>
            <a:ext cx="1583767" cy="2154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228602" indent="-228602" algn="l" defTabSz="914406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4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8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10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13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17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19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23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25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Cera CY"/>
                <a:ea typeface="Arial"/>
                <a:cs typeface="Arial"/>
              </a:rPr>
              <a:t>gazprombank.ru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ик. Узкая граф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8950" y="508879"/>
            <a:ext cx="2642063" cy="5544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563100" y="0"/>
            <a:ext cx="2628900" cy="6858000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>
          <a:xfrm>
            <a:off x="488950" y="3196674"/>
            <a:ext cx="7796675" cy="800219"/>
          </a:xfrm>
        </p:spPr>
        <p:txBody>
          <a:bodyPr anchor="ctr" anchorCtr="0"/>
          <a:lstStyle>
            <a:lvl1pPr>
              <a:lnSpc>
                <a:spcPct val="100000"/>
              </a:lnSpc>
              <a:defRPr lang="ru-RU" sz="5200" b="1">
                <a:solidFill>
                  <a:schemeClr val="accent1"/>
                </a:solidFill>
                <a:latin typeface="Cera CY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  <p:hf dt="0" ftr="0" hdr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ик. Широкая граф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8950" y="508879"/>
            <a:ext cx="2642063" cy="554400"/>
          </a:xfrm>
          <a:prstGeom prst="rect">
            <a:avLst/>
          </a:prstGeom>
        </p:spPr>
      </p:pic>
      <p:grpSp>
        <p:nvGrpSpPr>
          <p:cNvPr id="4" name="Группа 3"/>
          <p:cNvGrpSpPr/>
          <p:nvPr/>
        </p:nvGrpSpPr>
        <p:grpSpPr bwMode="auto">
          <a:xfrm>
            <a:off x="8676491" y="-6556"/>
            <a:ext cx="3515513" cy="6864557"/>
            <a:chOff x="9565779" y="1718305"/>
            <a:chExt cx="2632167" cy="5139695"/>
          </a:xfrm>
        </p:grpSpPr>
        <p:grpSp>
          <p:nvGrpSpPr>
            <p:cNvPr id="5" name="Группа 4"/>
            <p:cNvGrpSpPr/>
            <p:nvPr/>
          </p:nvGrpSpPr>
          <p:grpSpPr bwMode="auto">
            <a:xfrm>
              <a:off x="9565779" y="3429000"/>
              <a:ext cx="2632167" cy="3429000"/>
              <a:chOff x="4337858" y="0"/>
              <a:chExt cx="5264332" cy="6858000"/>
            </a:xfrm>
          </p:grpSpPr>
          <p:pic>
            <p:nvPicPr>
              <p:cNvPr id="7" name="Рисунок 6"/>
              <p:cNvPicPr>
                <a:picLocks noChangeAspect="1"/>
              </p:cNvPicPr>
              <p:nvPr/>
            </p:nvPicPr>
            <p:blipFill>
              <a:blip r:embed="rId3"/>
              <a:stretch/>
            </p:blipFill>
            <p:spPr bwMode="auto">
              <a:xfrm>
                <a:off x="4337858" y="0"/>
                <a:ext cx="3516284" cy="6858000"/>
              </a:xfrm>
              <a:prstGeom prst="rect">
                <a:avLst/>
              </a:prstGeom>
            </p:spPr>
          </p:pic>
          <p:pic>
            <p:nvPicPr>
              <p:cNvPr id="8" name="Рисунок 7"/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 bwMode="auto">
              <a:xfrm>
                <a:off x="8738712" y="0"/>
                <a:ext cx="863479" cy="6858000"/>
              </a:xfrm>
              <a:prstGeom prst="rect">
                <a:avLst/>
              </a:prstGeom>
            </p:spPr>
          </p:pic>
          <p:pic>
            <p:nvPicPr>
              <p:cNvPr id="9" name="Рисунок 8"/>
              <p:cNvPicPr>
                <a:picLocks noChangeAspect="1"/>
              </p:cNvPicPr>
              <p:nvPr/>
            </p:nvPicPr>
            <p:blipFill>
              <a:blip r:embed="rId5"/>
              <a:stretch/>
            </p:blipFill>
            <p:spPr bwMode="auto">
              <a:xfrm>
                <a:off x="7854142" y="1"/>
                <a:ext cx="884569" cy="6857999"/>
              </a:xfrm>
              <a:prstGeom prst="rect">
                <a:avLst/>
              </a:prstGeom>
            </p:spPr>
          </p:pic>
        </p:grpSp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>
              <a:off x="9565779" y="1718305"/>
              <a:ext cx="2632167" cy="1710694"/>
            </a:xfrm>
            <a:prstGeom prst="rect">
              <a:avLst/>
            </a:prstGeom>
          </p:spPr>
        </p:pic>
      </p:grpSp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488951" y="2403823"/>
            <a:ext cx="7335837" cy="1600438"/>
          </a:xfrm>
        </p:spPr>
        <p:txBody>
          <a:bodyPr wrap="square" lIns="0" tIns="0" rIns="0" bIns="0" anchor="ctr">
            <a:spAutoFit/>
          </a:bodyPr>
          <a:lstStyle>
            <a:lvl1pPr marL="0" marR="0" indent="0" algn="l" defTabSz="914406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/>
              <a:buNone/>
              <a:defRPr lang="ru-RU" sz="5200" i="0" u="none" strike="noStrike" cap="none" spc="0">
                <a:ln>
                  <a:noFill/>
                </a:ln>
                <a:solidFill>
                  <a:srgbClr val="2355D7"/>
                </a:solidFill>
                <a:latin typeface="Cera CY"/>
                <a:ea typeface="+mn-ea"/>
                <a:cs typeface="Arial"/>
              </a:defRPr>
            </a:lvl1pPr>
          </a:lstStyle>
          <a:p>
            <a:pPr marL="0" marR="0" lvl="0" indent="0" algn="l" defTabSz="914406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/>
              <a:buNone/>
              <a:defRPr/>
            </a:pPr>
            <a:r>
              <a:rPr lang="ru-RU" sz="5200" b="1" i="0" u="none" strike="noStrike" cap="none" spc="0">
                <a:ln>
                  <a:noFill/>
                </a:ln>
                <a:solidFill>
                  <a:srgbClr val="2355D7"/>
                </a:solidFill>
                <a:latin typeface="Cera CY"/>
                <a:ea typeface="+mn-ea"/>
                <a:cs typeface="Arial"/>
              </a:rPr>
              <a:t>Заголовок</a:t>
            </a:r>
            <a:br>
              <a:rPr lang="ru-RU" sz="5200" b="1" i="0" u="none" strike="noStrike" cap="none" spc="0">
                <a:ln>
                  <a:noFill/>
                </a:ln>
                <a:solidFill>
                  <a:srgbClr val="2355D7"/>
                </a:solidFill>
                <a:latin typeface="Cera CY"/>
                <a:ea typeface="+mn-ea"/>
                <a:cs typeface="Arial"/>
              </a:rPr>
            </a:br>
            <a:r>
              <a:rPr lang="ru-RU" sz="5200" b="1" i="0" u="none" strike="noStrike" cap="none" spc="0">
                <a:ln>
                  <a:noFill/>
                </a:ln>
                <a:solidFill>
                  <a:srgbClr val="2355D7"/>
                </a:solidFill>
                <a:latin typeface="Cera CY"/>
                <a:ea typeface="+mn-ea"/>
                <a:cs typeface="Arial"/>
              </a:rPr>
              <a:t>в две строки</a:t>
            </a: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Cera CY"/>
              <a:ea typeface="+mn-ea"/>
              <a:cs typeface="Arial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79425" y="4362450"/>
            <a:ext cx="7345364" cy="332399"/>
          </a:xfrm>
        </p:spPr>
        <p:txBody>
          <a:bodyPr wrap="square">
            <a:spAutoFit/>
          </a:bodyPr>
          <a:lstStyle>
            <a:lvl1pPr marL="0" indent="0">
              <a:buNone/>
              <a:def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n-lt"/>
                <a:ea typeface="+mn-ea"/>
                <a:cs typeface="Arial"/>
              </a:defRPr>
            </a:lvl1pPr>
            <a:lvl2pPr marL="228600" indent="0">
              <a:buNone/>
              <a:defRPr lang="ru-RU" sz="1800"/>
            </a:lvl2pPr>
            <a:lvl3pPr marL="685800" indent="0">
              <a:buNone/>
              <a:defRPr lang="ru-RU" sz="1800"/>
            </a:lvl3pPr>
            <a:lvl4pPr marL="1143000" indent="0">
              <a:buNone/>
              <a:defRPr lang="ru-RU"/>
            </a:lvl4pPr>
            <a:lvl5pPr marL="1600200" indent="0">
              <a:buNone/>
              <a:defRPr lang="ru-RU"/>
            </a:lvl5pPr>
          </a:lstStyle>
          <a:p>
            <a:pPr marL="0"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Текст 2"/>
          <p:cNvSpPr txBox="1"/>
          <p:nvPr/>
        </p:nvSpPr>
        <p:spPr bwMode="auto">
          <a:xfrm>
            <a:off x="488950" y="6212466"/>
            <a:ext cx="1583767" cy="2154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228602" indent="-228602" algn="l" defTabSz="914406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4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8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10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13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17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19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23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25" indent="-228602" algn="l" defTabSz="914406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latin typeface="Cera CY"/>
                <a:ea typeface="Arial"/>
                <a:cs typeface="Arial"/>
              </a:rPr>
              <a:t>gazprombank.ru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одержа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88951" y="269875"/>
            <a:ext cx="7335837" cy="800219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5200">
                <a:solidFill>
                  <a:schemeClr val="accent2"/>
                </a:solidFill>
                <a:latin typeface="Cera CY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5200" b="1">
                <a:latin typeface="Cera CY"/>
              </a:rPr>
              <a:t>Содержание</a:t>
            </a:r>
            <a:endParaRPr lang="ru-RU" sz="5200" b="1">
              <a:latin typeface="Cera CY"/>
            </a:endParaRPr>
          </a:p>
        </p:txBody>
      </p:sp>
    </p:spTree>
  </p:cSld>
  <p:clrMapOvr>
    <a:masterClrMapping/>
  </p:clrMapOvr>
  <p:hf dt="0" ftr="0" hdr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Заголовок короткий 52 п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 bwMode="auto">
          <a:xfrm>
            <a:off x="9626068" y="6346351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Cera CY"/>
              </a:defRPr>
            </a:lvl1pPr>
          </a:lstStyle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143519" y="320343"/>
            <a:ext cx="1569056" cy="360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79425" y="260350"/>
            <a:ext cx="9288463" cy="747897"/>
          </a:xfrm>
        </p:spPr>
        <p:txBody>
          <a:bodyPr/>
          <a:lstStyle>
            <a:lvl1pPr marL="0" indent="0">
              <a:buFont typeface="Arial"/>
              <a:buNone/>
              <a:defRPr sz="5200" b="1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ru-RU"/>
              <a:t>Заголовок короткий 52 пт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32 п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 bwMode="auto">
          <a:xfrm>
            <a:off x="10143519" y="5970338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Cera CY"/>
              </a:defRPr>
            </a:lvl1pPr>
          </a:lstStyle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143519" y="320343"/>
            <a:ext cx="1569056" cy="360000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ru-RU"/>
              <a:t>Заголовок 32 пт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длинный 20 п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 bwMode="auto">
          <a:xfrm>
            <a:off x="9767888" y="631216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Cera CY"/>
              </a:defRPr>
            </a:lvl1pPr>
          </a:lstStyle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143519" y="320343"/>
            <a:ext cx="1569056" cy="360000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479425" y="329674"/>
            <a:ext cx="9288463" cy="276999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ru-RU"/>
              <a:t>Заголовок длинный 20 пт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короткий 52 пт (синий фон)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 6"/>
          <p:cNvSpPr>
            <a:spLocks noGrp="1"/>
          </p:cNvSpPr>
          <p:nvPr>
            <p:ph type="sldNum" sz="quarter" idx="15"/>
          </p:nvPr>
        </p:nvSpPr>
        <p:spPr bwMode="auto">
          <a:xfrm>
            <a:off x="11195124" y="6474539"/>
            <a:ext cx="517451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Cera CY"/>
              </a:defRPr>
            </a:lvl1pPr>
          </a:lstStyle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143519" y="320343"/>
            <a:ext cx="1569056" cy="360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88950" y="269875"/>
            <a:ext cx="9288463" cy="720197"/>
          </a:xfrm>
        </p:spPr>
        <p:txBody>
          <a:bodyPr/>
          <a:lstStyle>
            <a:lvl1pPr marL="0" indent="0">
              <a:buFont typeface="Arial"/>
              <a:buNone/>
              <a:defRPr sz="52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ru-RU"/>
              <a:t>Заголовок 52 пт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Контакты_без лого/заголовка_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563100" y="0"/>
            <a:ext cx="2628900" cy="6858000"/>
          </a:xfrm>
          <a:prstGeom prst="rect">
            <a:avLst/>
          </a:prstGeom>
        </p:spPr>
      </p:pic>
    </p:spTree>
  </p:cSld>
  <p:clrMapOvr>
    <a:masterClrMapping/>
  </p:clrMapOvr>
  <p:hf dt="0" ftr="0" hdr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Титульник_ Узкая графика">
    <p:bg>
      <p:bgPr shadeToTitle="0">
        <a:solidFill>
          <a:srgbClr val="2355D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0EE7D5-1C5B-8040-BF4E-38B5D5EFD968}" type="datetime1">
              <a:rPr lang="ru-RU"/>
              <a:t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4"/>
          </p:nvPr>
        </p:nvSpPr>
        <p:spPr bwMode="auto">
          <a:xfrm>
            <a:off x="11203323" y="6311047"/>
            <a:ext cx="514489" cy="28660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0">
                <a:solidFill>
                  <a:schemeClr val="tx2"/>
                </a:solidFill>
                <a:latin typeface="+mj-lt"/>
                <a:ea typeface="Tahoma"/>
                <a:cs typeface="Tahoma"/>
              </a:defRPr>
            </a:lvl1pPr>
          </a:lstStyle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88950" y="269875"/>
            <a:ext cx="9288463" cy="4431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 bwMode="auto">
          <a:xfrm>
            <a:off x="488950" y="1062038"/>
            <a:ext cx="11233150" cy="35639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63538" lvl="0" indent="-363538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0057C0"/>
              </a:buClr>
              <a:buFont typeface="Tahoma"/>
              <a:defRPr/>
            </a:pPr>
            <a:r>
              <a:rPr lang="ru-RU"/>
              <a:t>Образец текста</a:t>
            </a:r>
            <a:br>
              <a:rPr lang="ru-RU"/>
            </a:br>
            <a:r>
              <a:rPr lang="ru-RU"/>
              <a:t>Второй уровень</a:t>
            </a:r>
            <a:br>
              <a:rPr lang="ru-RU"/>
            </a:br>
            <a:r>
              <a:rPr lang="ru-RU"/>
              <a:t>Третий уровень</a:t>
            </a:r>
            <a:br>
              <a:rPr lang="ru-RU"/>
            </a:br>
            <a:r>
              <a:rPr lang="ru-RU"/>
              <a:t>Четвертый уровень</a:t>
            </a:r>
            <a:br>
              <a:rPr lang="ru-RU"/>
            </a:br>
            <a:r>
              <a:rPr lang="ru-RU"/>
              <a:t>Пятый уровень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3200" b="1">
          <a:solidFill>
            <a:schemeClr val="tx1"/>
          </a:solidFill>
          <a:latin typeface="+mj-lt"/>
          <a:ea typeface="Tahoma"/>
          <a:cs typeface="Tahoma"/>
        </a:defRPr>
      </a:lvl1pPr>
    </p:titleStyle>
    <p:bodyStyle>
      <a:lvl1pPr marL="180000" indent="-180000" algn="l" defTabSz="914400">
        <a:lnSpc>
          <a:spcPct val="90000"/>
        </a:lnSpc>
        <a:spcBef>
          <a:spcPts val="1000"/>
        </a:spcBef>
        <a:buClr>
          <a:schemeClr val="accent6"/>
        </a:buClr>
        <a:buFont typeface="Arial"/>
        <a:buChar char="•"/>
        <a:defRPr lang="ru-RU" sz="1400">
          <a:solidFill>
            <a:schemeClr val="tx1"/>
          </a:solidFill>
          <a:latin typeface="+mj-lt"/>
          <a:ea typeface="Tahoma"/>
          <a:cs typeface="Tahoma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postgresql.org/docs/current/functions-window.html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accent2"/>
                </a:solidFill>
              </a:rPr>
              <a:t>Продвинутый </a:t>
            </a:r>
            <a:r>
              <a:rPr lang="en-US">
                <a:solidFill>
                  <a:schemeClr val="accent2"/>
                </a:solidFill>
              </a:rPr>
              <a:t>SQL</a:t>
            </a:r>
            <a:r>
              <a:rPr lang="ru-RU">
                <a:solidFill>
                  <a:schemeClr val="accent2"/>
                </a:solidFill>
              </a:rPr>
              <a:t> 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 bwMode="auto">
          <a:xfrm>
            <a:off x="488950" y="3996893"/>
            <a:ext cx="8975725" cy="95091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2"/>
                </a:solidFill>
              </a:rPr>
              <a:t>Практика 2</a:t>
            </a:r>
            <a:br>
              <a:rPr lang="ru-RU">
                <a:solidFill>
                  <a:schemeClr val="accent2"/>
                </a:solidFill>
              </a:rPr>
            </a:br>
            <a:r>
              <a:rPr lang="ru-RU">
                <a:solidFill>
                  <a:schemeClr val="accent2"/>
                </a:solidFill>
              </a:rPr>
              <a:t>Семинар Высшей Школы Экономики</a:t>
            </a:r>
            <a:br>
              <a:rPr lang="ru-RU">
                <a:solidFill>
                  <a:schemeClr val="accent2"/>
                </a:solidFill>
              </a:rPr>
            </a:br>
            <a:r>
              <a:rPr lang="ru-RU">
                <a:solidFill>
                  <a:schemeClr val="accent2"/>
                </a:solidFill>
              </a:rPr>
              <a:t>дисциплина - Хранилище данных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По результатам семинара 1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77650" y="6310313"/>
            <a:ext cx="514350" cy="287337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488949" y="1337462"/>
            <a:ext cx="8915400" cy="2413273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>
            <a:lvl1pPr marL="342900" indent="-3429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500" b="1"/>
              <a:t>Формула оценки</a:t>
            </a:r>
            <a:endParaRPr lang="ru-RU" sz="1500" b="1"/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era CY"/>
                <a:ea typeface="Cera CY"/>
                <a:cs typeface="Cera CY"/>
              </a:rPr>
              <a:t>Семинары * 0.4 + Задания с лекций 2шт * 0.1 </a:t>
            </a:r>
            <a:r>
              <a:rPr lang="ru-RU" sz="15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+ Экзамен * 0.5</a:t>
            </a:r>
            <a:endParaRPr sz="1500"/>
          </a:p>
          <a:p>
            <a:pPr marL="0" indent="0">
              <a:buNone/>
              <a:defRPr/>
            </a:pPr>
            <a:r>
              <a:rPr lang="ru-RU" sz="1500" b="1"/>
              <a:t>Уточненная модель данных</a:t>
            </a:r>
            <a:endParaRPr lang="ru-RU" sz="1500" b="1"/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era CY"/>
                <a:ea typeface="Cera CY"/>
                <a:cs typeface="Cera CY"/>
              </a:rPr>
              <a:t>n:\Users\DevBox002\API_new.pdm </a:t>
            </a:r>
            <a:endParaRPr/>
          </a:p>
          <a:p>
            <a:pPr marL="0" indent="0">
              <a:buNone/>
              <a:defRPr/>
            </a:pPr>
            <a:r>
              <a:rPr lang="ru-RU" sz="1400" b="1"/>
              <a:t>Разбор заданий:</a:t>
            </a:r>
            <a:endParaRPr sz="1400"/>
          </a:p>
          <a:p>
            <a:pPr>
              <a:defRPr/>
            </a:pPr>
            <a:r>
              <a:rPr lang="ru-RU" sz="1500"/>
              <a:t>Тест с лекций </a:t>
            </a:r>
            <a:endParaRPr/>
          </a:p>
          <a:p>
            <a:pPr>
              <a:defRPr/>
            </a:pPr>
            <a:r>
              <a:rPr lang="ru-RU" sz="1500"/>
              <a:t>Задания 1, 2</a:t>
            </a:r>
            <a:endParaRPr/>
          </a:p>
          <a:p>
            <a:pPr marL="0" indent="0">
              <a:buFont typeface="Wingdings 3"/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895059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Оконные функции</a:t>
            </a:r>
            <a:br>
              <a:rPr lang="en-US"/>
            </a:br>
            <a:r>
              <a:rPr lang="ru-RU" sz="2400" i="1"/>
              <a:t>Аналитические вычисления без группировки</a:t>
            </a:r>
            <a:endParaRPr lang="ru-RU" sz="2400"/>
          </a:p>
        </p:txBody>
      </p:sp>
      <p:sp>
        <p:nvSpPr>
          <p:cNvPr id="2011082821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77649" y="6310312"/>
            <a:ext cx="514350" cy="287336"/>
          </a:xfrm>
        </p:spPr>
        <p:txBody>
          <a:bodyPr/>
          <a:lstStyle/>
          <a:p>
            <a:pPr>
              <a:defRPr/>
            </a:pPr>
            <a:fld id="{3BAB8300-52D8-268F-D32C-43FDD90718B5}" type="slidenum">
              <a:rPr lang="en-US"/>
              <a:t/>
            </a:fld>
            <a:endParaRPr lang="en-US"/>
          </a:p>
        </p:txBody>
      </p:sp>
      <p:graphicFrame>
        <p:nvGraphicFramePr>
          <p:cNvPr id="1854387519" name="Таблица 5"/>
          <p:cNvGraphicFramePr>
            <a:graphicFrameLocks xmlns:a="http://schemas.openxmlformats.org/drawingml/2006/main"/>
          </p:cNvGraphicFramePr>
          <p:nvPr/>
        </p:nvGraphicFramePr>
        <p:xfrm>
          <a:off x="488949" y="1633800"/>
          <a:ext cx="8127999" cy="18541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478217"/>
                <a:gridCol w="5649781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1" i="0" u="none" strike="noStrike">
                          <a:solidFill>
                            <a:schemeClr val="lt1"/>
                          </a:solidFill>
                          <a:latin typeface="Cera CY"/>
                          <a:ea typeface="Arial"/>
                          <a:cs typeface="Arial"/>
                        </a:rPr>
                        <a:t>Тип</a:t>
                      </a:r>
                      <a:endParaRPr lang="ru-RU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1" i="0" u="none" strike="noStrike">
                          <a:solidFill>
                            <a:schemeClr val="lt1"/>
                          </a:solidFill>
                          <a:latin typeface="Cera CY"/>
                          <a:ea typeface="Arial"/>
                          <a:cs typeface="Arial"/>
                        </a:rPr>
                        <a:t>Примеры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Агрегатные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/>
                        <a:t>SUM()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, </a:t>
                      </a:r>
                      <a:r>
                        <a:rPr lang="en-US" sz="1400"/>
                        <a:t>AVG()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, </a:t>
                      </a:r>
                      <a:r>
                        <a:rPr lang="en-US" sz="1400"/>
                        <a:t>COUNT()</a:t>
                      </a:r>
                      <a:r>
                        <a:rPr lang="ru-RU" sz="1400"/>
                        <a:t>, </a:t>
                      </a:r>
                      <a:r>
                        <a:rPr lang="en-US" sz="1400"/>
                        <a:t>MIN(), MAX(), STDDEV()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, </a:t>
                      </a:r>
                      <a:r>
                        <a:rPr lang="en-US" sz="1400"/>
                        <a:t>VARIANCE()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 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Ранжирующие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/>
                        <a:t>ROW_NUMBER()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, </a:t>
                      </a:r>
                      <a:r>
                        <a:rPr lang="en-US" sz="1400"/>
                        <a:t>RANK()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, </a:t>
                      </a:r>
                      <a:r>
                        <a:rPr lang="en-US" sz="1400"/>
                        <a:t>DENSE_RANK()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Смещения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/>
                        <a:t>LEAD()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, </a:t>
                      </a:r>
                      <a:r>
                        <a:rPr lang="en-US" sz="1400"/>
                        <a:t>LAG()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, </a:t>
                      </a:r>
                      <a:r>
                        <a:rPr lang="en-US" sz="1400"/>
                        <a:t>FIRST_VALUE()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0"/>
                        <a:t>Статистические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/>
                        <a:t>PERCENTILE_CONT()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, </a:t>
                      </a:r>
                      <a:r>
                        <a:rPr lang="en-US" sz="1400"/>
                        <a:t>PERCENTILE_DISC()</a:t>
                      </a:r>
                      <a:endParaRPr lang="ru-RU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21222555" name="Объект 2"/>
          <p:cNvSpPr txBox="1"/>
          <p:nvPr/>
        </p:nvSpPr>
        <p:spPr bwMode="auto">
          <a:xfrm>
            <a:off x="488949" y="3750735"/>
            <a:ext cx="8915400" cy="241327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45720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500" b="1"/>
              <a:t>Когда использовать?</a:t>
            </a:r>
            <a:endParaRPr/>
          </a:p>
          <a:p>
            <a:pPr>
              <a:defRPr/>
            </a:pPr>
            <a:r>
              <a:rPr lang="ru-RU" sz="1500"/>
              <a:t>Расчет накопленных сумм (</a:t>
            </a:r>
            <a:r>
              <a:rPr lang="en-US" sz="1500"/>
              <a:t>SUM() OVER)</a:t>
            </a:r>
            <a:endParaRPr/>
          </a:p>
          <a:p>
            <a:pPr>
              <a:defRPr/>
            </a:pPr>
            <a:r>
              <a:rPr lang="ru-RU" sz="1500"/>
              <a:t>Сравнение строк (например, разница с предыдущим значением через </a:t>
            </a:r>
            <a:r>
              <a:rPr lang="en-US" sz="1500"/>
              <a:t>LAG)</a:t>
            </a:r>
            <a:endParaRPr/>
          </a:p>
          <a:p>
            <a:pPr>
              <a:defRPr/>
            </a:pPr>
            <a:r>
              <a:rPr lang="ru-RU" sz="1500"/>
              <a:t>Топ-</a:t>
            </a:r>
            <a:r>
              <a:rPr lang="en-US" sz="1500"/>
              <a:t>N </a:t>
            </a:r>
            <a:r>
              <a:rPr lang="ru-RU" sz="1500"/>
              <a:t>записей в каждой группе (</a:t>
            </a:r>
            <a:r>
              <a:rPr lang="en-US" sz="1500"/>
              <a:t>ROW_NUMBER + </a:t>
            </a:r>
            <a:r>
              <a:rPr lang="ru-RU" sz="1500"/>
              <a:t>фильтрация)</a:t>
            </a:r>
            <a:endParaRPr/>
          </a:p>
          <a:p>
            <a:pPr marL="0" indent="0">
              <a:buNone/>
              <a:defRPr/>
            </a:pPr>
            <a:r>
              <a:rPr lang="ru-RU" sz="1400" b="1"/>
              <a:t>Ограничения:</a:t>
            </a:r>
            <a:endParaRPr/>
          </a:p>
          <a:p>
            <a:pPr>
              <a:defRPr/>
            </a:pPr>
            <a:r>
              <a:rPr lang="ru-RU" sz="1500"/>
              <a:t>Нельзя использовать в </a:t>
            </a:r>
            <a:r>
              <a:rPr lang="en-US" sz="1500"/>
              <a:t>WHERE (</a:t>
            </a:r>
            <a:r>
              <a:rPr lang="ru-RU" sz="1500"/>
              <a:t>только в </a:t>
            </a:r>
            <a:r>
              <a:rPr lang="en-US" sz="1500"/>
              <a:t>SELECT </a:t>
            </a:r>
            <a:r>
              <a:rPr lang="ru-RU" sz="1500"/>
              <a:t>или </a:t>
            </a:r>
            <a:r>
              <a:rPr lang="en-US" sz="1500"/>
              <a:t>ORDER BY)</a:t>
            </a:r>
            <a:endParaRPr/>
          </a:p>
          <a:p>
            <a:pPr>
              <a:defRPr/>
            </a:pPr>
            <a:r>
              <a:rPr lang="ru-RU" sz="1500"/>
              <a:t>Могут снижать производительность на больших данных</a:t>
            </a:r>
            <a:endParaRPr/>
          </a:p>
          <a:p>
            <a:pPr>
              <a:defRPr/>
            </a:pPr>
            <a:endParaRPr lang="ru-RU"/>
          </a:p>
          <a:p>
            <a:pPr marL="0" indent="0">
              <a:buFont typeface="Wingdings 3"/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Оконные функции</a:t>
            </a:r>
            <a:br>
              <a:rPr lang="en-US"/>
            </a:br>
            <a:r>
              <a:rPr lang="ru-RU" sz="2400" i="1"/>
              <a:t>Аналитические вычисления без группировки</a:t>
            </a:r>
            <a:endParaRPr lang="ru-RU" sz="2400"/>
          </a:p>
        </p:txBody>
      </p:sp>
      <p:graphicFrame>
        <p:nvGraphicFramePr>
          <p:cNvPr id="9" name="Объект 8"/>
          <p:cNvGraphicFramePr>
            <a:graphicFrameLocks xmlns:a="http://schemas.openxmlformats.org/drawingml/2006/main" noGrp="1"/>
          </p:cNvGraphicFramePr>
          <p:nvPr>
            <p:ph idx="4294967295"/>
          </p:nvPr>
        </p:nvGraphicFramePr>
        <p:xfrm>
          <a:off x="488950" y="1188720"/>
          <a:ext cx="8915400" cy="44551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935156"/>
                <a:gridCol w="4980244"/>
              </a:tblGrid>
              <a:tr h="279464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1" i="0" u="none" strike="noStrike">
                          <a:solidFill>
                            <a:schemeClr val="lt1"/>
                          </a:solidFill>
                          <a:latin typeface="Cera CY"/>
                          <a:ea typeface="Arial"/>
                          <a:cs typeface="Arial"/>
                        </a:rPr>
                        <a:t>Функция</a:t>
                      </a:r>
                      <a:endParaRPr lang="ru-RU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1" i="0" u="none" strike="noStrike">
                          <a:solidFill>
                            <a:schemeClr val="lt1"/>
                          </a:solidFill>
                          <a:latin typeface="Cera CY"/>
                          <a:ea typeface="Arial"/>
                          <a:cs typeface="Arial"/>
                        </a:rPr>
                        <a:t>Описание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ROW_NUMBER()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Присваивает уникальный номер каждой строке в рамках окна (даже при одинаковых значениях)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RANK()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Присваивает ранг с пропусками номеров при одинаковых значениях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DENSE_RANK()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Присваивает ранг без пропусков номеров при одинаковых значениях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LAG(column, offset, default)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Возвращает значение предыдущей строки в окне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LEAD(column, offset, default)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Возвращает значение следующей строки в окне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FIRST_VALUE(column)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400"/>
                        <a:t>Возвращает первое значение в окне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LAST_VALUE(column)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400"/>
                        <a:t>Возвращает последнее значение в окне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NTILE(n)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Разбивает строки на </a:t>
                      </a:r>
                      <a:r>
                        <a:rPr lang="en-US" sz="1400"/>
                        <a:t>n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 </a:t>
                      </a: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групп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PERCENT_RANK()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Относительный ранг (от 0 до 1)</a:t>
                      </a:r>
                      <a:endParaRPr lang="ru-RU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CUME_DIST()</a:t>
                      </a:r>
                      <a:endParaRPr lang="ru-RU" sz="1400" b="0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400" b="0" i="0" u="none" strike="noStrike">
                          <a:solidFill>
                            <a:schemeClr val="dk1"/>
                          </a:solidFill>
                          <a:latin typeface="Cera CY"/>
                          <a:ea typeface="Arial"/>
                          <a:cs typeface="Arial"/>
                        </a:rPr>
                        <a:t>Кумулятивное распределение</a:t>
                      </a:r>
                      <a:endParaRPr lang="ru-RU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85626" y="6328991"/>
            <a:ext cx="514350" cy="287337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600456" y="5910063"/>
            <a:ext cx="8915400" cy="41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u="sng">
                <a:hlinkClick r:id="rId2" tooltip="https://www.postgresql.org/docs/current/functions-window.html"/>
              </a:rPr>
              <a:t>https://www.postgresql.org/docs/current/functions-window.html</a:t>
            </a:r>
            <a:r>
              <a:rPr lang="ru-RU"/>
              <a:t>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Оконные функции</a:t>
            </a:r>
            <a:br>
              <a:rPr lang="en-US"/>
            </a:br>
            <a:r>
              <a:rPr lang="ru-RU" sz="2400" i="1"/>
              <a:t>Аналитические вычисления без группировки</a:t>
            </a:r>
            <a:endParaRPr lang="ru-RU" sz="240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77650" y="6310313"/>
            <a:ext cx="514350" cy="287337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488950" y="1599247"/>
            <a:ext cx="8915400" cy="1280889"/>
          </a:xfrm>
          <a:prstGeom prst="rect">
            <a:avLst/>
          </a:prstGeom>
          <a:solidFill>
            <a:schemeClr val="tx1"/>
          </a:solidFill>
          <a:effectLst>
            <a:outerShdw blurRad="50800" dist="165768" dir="8100000" algn="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-</a:t>
            </a:r>
            <a:r>
              <a:rPr lang="en-US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- </a:t>
            </a:r>
            <a:r>
              <a:rPr lang="ru-RU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Расчет разницы между текущим и средним платежом</a:t>
            </a:r>
            <a:r>
              <a:rPr lang="en-US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 </a:t>
            </a:r>
            <a:r>
              <a:rPr lang="ru-RU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по филиалу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SELECT 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payment_document_id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    amount,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amount -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AVG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(amount)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OVER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PARTITION BY </a:t>
            </a:r>
            <a:r>
              <a:rPr lang="en-US" sz="1400" b="0" i="0" u="none" strike="noStrike" cap="none" spc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branch_id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) 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AS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diff_from_avg</a:t>
            </a:r>
            <a:endParaRPr lang="en-US" sz="1400">
              <a:solidFill>
                <a:schemeClr val="bg1"/>
              </a:solidFill>
              <a:latin typeface="Consolas"/>
              <a:cs typeface="Consolas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FROM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src.payments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;</a:t>
            </a:r>
            <a:endParaRPr lang="ru-RU" sz="1400">
              <a:solidFill>
                <a:schemeClr val="bg1"/>
              </a:solidFill>
              <a:latin typeface="Consolas"/>
              <a:cs typeface="Consolas"/>
            </a:endParaRPr>
          </a:p>
        </p:txBody>
      </p:sp>
      <p:sp>
        <p:nvSpPr>
          <p:cNvPr id="7" name="Объект 2"/>
          <p:cNvSpPr txBox="1"/>
          <p:nvPr/>
        </p:nvSpPr>
        <p:spPr bwMode="auto">
          <a:xfrm>
            <a:off x="565149" y="3150556"/>
            <a:ext cx="8915400" cy="1414849"/>
          </a:xfrm>
          <a:prstGeom prst="rect">
            <a:avLst/>
          </a:prstGeom>
          <a:solidFill>
            <a:schemeClr val="tx1"/>
          </a:solidFill>
          <a:effectLst>
            <a:outerShdw blurRad="50800" dist="165768" dir="8100000" algn="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-</a:t>
            </a:r>
            <a:r>
              <a:rPr lang="en-US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- </a:t>
            </a:r>
            <a:r>
              <a:rPr lang="ru-RU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Определение "выбросов" в платежах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SELECT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operation_type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    amount,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AVG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(amount)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OVER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AS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global_avg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CASE WHEN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amount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&gt; 2 * 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AVG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(amount)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OVER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THEN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'</a:t>
            </a:r>
            <a:r>
              <a:rPr lang="ru-RU" sz="1400">
                <a:solidFill>
                  <a:schemeClr val="bg1"/>
                </a:solidFill>
                <a:latin typeface="Consolas"/>
                <a:cs typeface="Consolas"/>
              </a:rPr>
              <a:t>Выброс' 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ELSE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'</a:t>
            </a:r>
            <a:r>
              <a:rPr lang="ru-RU" sz="1400">
                <a:solidFill>
                  <a:schemeClr val="bg1"/>
                </a:solidFill>
                <a:latin typeface="Consolas"/>
                <a:cs typeface="Consolas"/>
              </a:rPr>
              <a:t>Норма' 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END AS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status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FROM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src.payments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;</a:t>
            </a:r>
            <a:endParaRPr lang="ru-RU" sz="1400">
              <a:solidFill>
                <a:schemeClr val="bg1"/>
              </a:solidFill>
              <a:latin typeface="Consolas"/>
              <a:cs typeface="Consolas"/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565149" y="4867105"/>
            <a:ext cx="8915400" cy="1490832"/>
          </a:xfrm>
          <a:prstGeom prst="rect">
            <a:avLst/>
          </a:prstGeom>
          <a:solidFill>
            <a:schemeClr val="tx1"/>
          </a:solidFill>
          <a:effectLst>
            <a:outerShdw blurRad="50800" dist="165768" dir="8100000" algn="tr" rotWithShape="0">
              <a:prstClr val="black">
                <a:alpha val="40000"/>
              </a:prstClr>
            </a:outerShdw>
          </a:effectLst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>
            <a:lvl1pPr marL="342900" indent="-3429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-</a:t>
            </a:r>
            <a:r>
              <a:rPr lang="en-US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- </a:t>
            </a:r>
            <a:r>
              <a:rPr lang="ru-RU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Сравнение сумм предыдущим платежом по филиалу</a:t>
            </a:r>
            <a:br>
              <a:rPr lang="ru-RU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</a:b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SELECT 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   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payment_document_id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, amount,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execution_date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   LAG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(amount, 1)</a:t>
            </a: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 OVER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(</a:t>
            </a: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PARTITION BY </a:t>
            </a:r>
            <a:r>
              <a:rPr lang="en-US" sz="1500" b="0" i="0" u="none" strike="noStrike" cap="none" spc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branch_id</a:t>
            </a: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 ORDER BY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execution_date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asc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) </a:t>
            </a: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AS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prev_payment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    LAG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(execution_date,1)</a:t>
            </a: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 OVER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(</a:t>
            </a: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PARTITION BY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branch_id</a:t>
            </a: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 ORDER BY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execution_date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asc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)</a:t>
            </a: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 AS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prev_payment_date</a:t>
            </a:r>
            <a:endParaRPr lang="en-US" sz="1500">
              <a:solidFill>
                <a:schemeClr val="bg1"/>
              </a:solidFill>
              <a:latin typeface="Consolas"/>
              <a:cs typeface="Consolas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500">
                <a:solidFill>
                  <a:srgbClr val="D883FF"/>
                </a:solidFill>
                <a:latin typeface="Consolas"/>
                <a:cs typeface="Consolas"/>
              </a:rPr>
              <a:t>FROM 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src.payments</a:t>
            </a:r>
            <a:r>
              <a:rPr lang="en-US" sz="1500">
                <a:solidFill>
                  <a:schemeClr val="bg1"/>
                </a:solidFill>
                <a:latin typeface="Consolas"/>
                <a:cs typeface="Consolas"/>
              </a:rPr>
              <a:t>;</a:t>
            </a:r>
            <a:endParaRPr lang="en-US" sz="1500">
              <a:solidFill>
                <a:schemeClr val="bg1"/>
              </a:solidFill>
              <a:latin typeface="Consolas"/>
              <a:cs typeface="Consolas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endParaRPr/>
          </a:p>
          <a:p>
            <a:pPr marL="0" indent="0">
              <a:spcBef>
                <a:spcPts val="0"/>
              </a:spcBef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Оконные функции</a:t>
            </a:r>
            <a:br>
              <a:rPr lang="en-US"/>
            </a:br>
            <a:r>
              <a:rPr lang="ru-RU" sz="2400" i="1"/>
              <a:t>Аналитические вычисления без группировки</a:t>
            </a:r>
            <a:endParaRPr lang="ru-RU" sz="240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77650" y="6310313"/>
            <a:ext cx="514350" cy="287337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488950" y="1727264"/>
            <a:ext cx="8915400" cy="4462139"/>
          </a:xfrm>
          <a:prstGeom prst="rect">
            <a:avLst/>
          </a:prstGeom>
          <a:solidFill>
            <a:schemeClr val="tx1"/>
          </a:solidFill>
          <a:effectLst>
            <a:outerShdw blurRad="50800" dist="165768" dir="8100000" algn="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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-</a:t>
            </a:r>
            <a:r>
              <a:rPr lang="en-US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- </a:t>
            </a:r>
            <a:r>
              <a:rPr lang="ru-RU" sz="140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cs typeface="Consolas"/>
              </a:rPr>
              <a:t> Ранжирование клиентов по сумме кредитных договоров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WITH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client_credit_totals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 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AS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SELECT 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   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c.client_id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       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c.full_name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    SUM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cc.amount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) 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AS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total_credit_amount</a:t>
            </a:r>
            <a:endParaRPr lang="en-US" sz="1400">
              <a:solidFill>
                <a:schemeClr val="bg1"/>
              </a:solidFill>
              <a:latin typeface="Consolas"/>
              <a:cs typeface="Consolas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FROM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src.client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 c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    JOIN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src.credit_contract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 cc 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ON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c.client_id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 =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cc.main_client_id</a:t>
            </a:r>
            <a:endParaRPr lang="en-US" sz="1400">
              <a:solidFill>
                <a:schemeClr val="bg1"/>
              </a:solidFill>
              <a:latin typeface="Consolas"/>
              <a:cs typeface="Consolas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WHERE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c.client_type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 = '</a:t>
            </a:r>
            <a:r>
              <a:rPr lang="ru-RU" sz="1400">
                <a:solidFill>
                  <a:schemeClr val="bg1"/>
                </a:solidFill>
                <a:latin typeface="Consolas"/>
                <a:cs typeface="Consolas"/>
              </a:rPr>
              <a:t>Физ.лицо</a:t>
            </a:r>
            <a:r>
              <a:rPr lang="ru-RU" sz="1400">
                <a:solidFill>
                  <a:schemeClr val="bg1"/>
                </a:solidFill>
                <a:latin typeface="Consolas"/>
                <a:cs typeface="Consolas"/>
              </a:rPr>
              <a:t>'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sz="1400">
                <a:solidFill>
                  <a:srgbClr val="D883FF"/>
                </a:solidFill>
                <a:latin typeface="Consolas"/>
                <a:cs typeface="Consolas"/>
              </a:rPr>
              <a:t>    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GROUP BY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c.client_id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c.full_name</a:t>
            </a:r>
            <a:endParaRPr lang="en-US" sz="1400">
              <a:solidFill>
                <a:schemeClr val="bg1"/>
              </a:solidFill>
              <a:latin typeface="Consolas"/>
              <a:cs typeface="Consolas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)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endParaRPr lang="en-US" sz="1400">
              <a:solidFill>
                <a:srgbClr val="D883FF"/>
              </a:solidFill>
              <a:latin typeface="Consolas"/>
              <a:cs typeface="Consolas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SELECT 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client_id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   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full_name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   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total_credit_amount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RANK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OVER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ORDER BY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total_credit_amount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DESC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AS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credit_rank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DENSE_RANK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OVER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ORDER BY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total_credit_amount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DESC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AS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dense_credit_rank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,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   ROW_NUMBER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OVER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(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ORDER BY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total_credit_amount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DESC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)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AS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row_num</a:t>
            </a:r>
            <a:endParaRPr lang="en-US" sz="1400">
              <a:solidFill>
                <a:schemeClr val="bg1"/>
              </a:solidFill>
              <a:latin typeface="Consolas"/>
              <a:cs typeface="Consolas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FROM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client_credit_totals</a:t>
            </a:r>
            <a:endParaRPr lang="en-US" sz="1400">
              <a:solidFill>
                <a:schemeClr val="bg1"/>
              </a:solidFill>
              <a:latin typeface="Consolas"/>
              <a:cs typeface="Consolas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ORDER BY 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total_credit_amount</a:t>
            </a:r>
            <a:r>
              <a:rPr lang="en-US" sz="1400">
                <a:solidFill>
                  <a:srgbClr val="D883FF"/>
                </a:solidFill>
                <a:latin typeface="Consolas"/>
                <a:cs typeface="Consolas"/>
              </a:rPr>
              <a:t> DESC</a:t>
            </a:r>
            <a:r>
              <a:rPr lang="en-US" sz="1400">
                <a:solidFill>
                  <a:schemeClr val="bg1"/>
                </a:solidFill>
                <a:latin typeface="Consolas"/>
                <a:cs typeface="Consolas"/>
              </a:rPr>
              <a:t>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Белая_тема">
  <a:themeElements>
    <a:clrScheme name="Другая 157">
      <a:dk1>
        <a:srgbClr val="000000"/>
      </a:dk1>
      <a:lt1>
        <a:srgbClr val="FFFFFF"/>
      </a:lt1>
      <a:dk2>
        <a:srgbClr val="696E82"/>
      </a:dk2>
      <a:lt2>
        <a:srgbClr val="EDEEF2"/>
      </a:lt2>
      <a:accent1>
        <a:srgbClr val="2354D6"/>
      </a:accent1>
      <a:accent2>
        <a:srgbClr val="4478FF"/>
      </a:accent2>
      <a:accent3>
        <a:srgbClr val="D1E5FF"/>
      </a:accent3>
      <a:accent4>
        <a:srgbClr val="F4F6FA"/>
      </a:accent4>
      <a:accent5>
        <a:srgbClr val="FFA066"/>
      </a:accent5>
      <a:accent6>
        <a:srgbClr val="FF7900"/>
      </a:accent6>
      <a:hlink>
        <a:srgbClr val="4478FF"/>
      </a:hlink>
      <a:folHlink>
        <a:srgbClr val="FFA066"/>
      </a:folHlink>
    </a:clrScheme>
    <a:fontScheme name="Другая 1">
      <a:majorFont>
        <a:latin typeface="Cera CY"/>
        <a:ea typeface="Arial"/>
        <a:cs typeface="Arial"/>
      </a:majorFont>
      <a:minorFont>
        <a:latin typeface="Cera CY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Белая_тема</Template>
  <TotalTime>0</TotalTime>
  <Words>0</Words>
  <Application>R7-Office/2024.1.1.375</Application>
  <DocSecurity>0</DocSecurity>
  <PresentationFormat>Широкоэкранный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Продвинутый SQL</dc:title>
  <dc:subject/>
  <dc:creator>Microsoft Office User</dc:creator>
  <cp:keywords/>
  <dc:description/>
  <dc:identifier/>
  <dc:language/>
  <cp:lastModifiedBy>Александр Сухов</cp:lastModifiedBy>
  <cp:revision>73</cp:revision>
  <dcterms:created xsi:type="dcterms:W3CDTF">2025-08-06T15:52:46Z</dcterms:created>
  <dcterms:modified xsi:type="dcterms:W3CDTF">2025-09-22T10:22:45Z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m1">
    <vt:lpwstr>{"CreationContext":{"DomainName":"int.gazprombank.ru","MachineName":"W-MSK00-VDIID2S","TimeStamp":"\/Date(1756735285936)\/","UserName":"gpbu10815","UserSid":{"Sddl":"S-1-5-21-3989785535-4168274036-2173320020-165832"}},"Guid":"66e4d1e0-8e1c-49bf-b669-f4bc2</vt:lpwstr>
  </property>
  <property fmtid="{D5CDD505-2E9C-101B-9397-08002B2CF9AE}" pid="3" name="Dm2">
    <vt:lpwstr>90c284d","Hash":[218,57,163,238,94,107,75,13,50,85,191,239,149,96,24,144,175,216,7,9],"LastModificationContext":{"DomainName":"int.gazprombank.ru","MachineName":"W-MSK00-VDIID2S","TimeStamp":"\/Date(1757585065730)\/","UserName":"gpbu10815","UserSid":{"Sdd</vt:lpwstr>
  </property>
  <property fmtid="{D5CDD505-2E9C-101B-9397-08002B2CF9AE}" pid="4" name="Dm3">
    <vt:lpwstr>l":"S-1-5-21-3989785535-4168274036-2173320020-165832"}},"LastModificationPath":"\\\\int.gazprombank.ru\\dfsgpb\\Homefolders\\MSK\\07\\gpbu10815\\Downloads\\ГПБ_Прк2.pptx","Marker":{"Color":{"knownColor":0,"name":null,"state":0,"value":0},"Enabled":true,"G</vt:lpwstr>
  </property>
  <property fmtid="{D5CDD505-2E9C-101B-9397-08002B2CF9AE}" pid="5" name="Dm4">
    <vt:lpwstr>uid":"eee80589-c3bd-47f9-b8b9-cb5f98354da1","Icon":null,"IsShowWindowNotification":false,"Level":0,"Name":"Открытая информация","Options":[{"Application":0,"Options":{"Barcode":null,"Classifier":[],"Encryption":null,"Picture":null,"SteganographyRules":nul</vt:lpwstr>
  </property>
  <property fmtid="{D5CDD505-2E9C-101B-9397-08002B2CF9AE}" pid="6" name="Dm5">
    <vt:lpwstr>l,"Text":{"Style":{"FontColor":null,"FontMask":0,"FontName":null,"FontSize":null},"Text":"Открытая информация"}},"Position":0},{"Application":1,"Options":{"Barcode":null,"Classifier":[],"Encryption":null,"Picture":null,"SteganographyRules":null,"Text":{"S</vt:lpwstr>
  </property>
  <property fmtid="{D5CDD505-2E9C-101B-9397-08002B2CF9AE}" pid="7" name="Dm6">
    <vt:lpwstr>tyle":{"FontColor":null,"FontMask":0,"FontName":null,"FontSize":null},"Text":"Открытая информация"}},"Position":0},{"Application":2,"Options":{"Barcode":null,"Classifier":[],"Encryption":null,"Picture":null,"SteganographyRules":null,"Text":{"Style":{"Font</vt:lpwstr>
  </property>
  <property fmtid="{D5CDD505-2E9C-101B-9397-08002B2CF9AE}" pid="8" name="Dm7">
    <vt:lpwstr>Color":null,"FontMask":0,"FontName":null,"FontSize":null},"Text":"Открытая информация"}},"Position":0},{"Application":3,"Options":{"Barcode":null,"Classifier":[],"Encryption":null,"Picture":null,"SteganographyRules":null,"Text":{"Style":{"FontColor":null,</vt:lpwstr>
  </property>
  <property fmtid="{D5CDD505-2E9C-101B-9397-08002B2CF9AE}" pid="9" name="Dm8">
    <vt:lpwstr>"FontMask":0,"FontName":null,"FontSize":null},"Text":"Открытая информация"}},"Position":0}],"Permission":15},"ParentGuid":"9da7f2eb-90e6-4eb0-9a3d-208b0572a138"}</vt:lpwstr>
  </property>
  <property fmtid="{D5CDD505-2E9C-101B-9397-08002B2CF9AE}" pid="10" name="Dm9">
    <vt:lpwstr/>
  </property>
</Properties>
</file>